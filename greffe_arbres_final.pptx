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7" r:id="rId6"/>
    <p:sldMasterId id="2147483658" r:id="rId7"/>
    <p:sldMasterId id="2147483659" r:id="rId8"/>
    <p:sldMasterId id="2147483660" r:id="rId9"/>
    <p:sldMasterId id="2147483661" r:id="rId10"/>
    <p:sldMasterId id="2147483662" r:id="rId11"/>
  </p:sld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98"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Lst>
  <p:sldSz cx="9144000" cy="6858000" type="screen4x3"/>
  <p:notesSz cx="7559675" cy="10691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79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slide" Target="slides/slide28.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slide" Target="slides/slide31.xml"/><Relationship Id="rId47" Type="http://schemas.openxmlformats.org/officeDocument/2006/relationships/slide" Target="slides/slide36.xml"/><Relationship Id="rId50" Type="http://schemas.openxmlformats.org/officeDocument/2006/relationships/slide" Target="slides/slide39.xml"/><Relationship Id="rId55"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5.xml"/><Relationship Id="rId29" Type="http://schemas.openxmlformats.org/officeDocument/2006/relationships/slide" Target="slides/slide18.xml"/><Relationship Id="rId11" Type="http://schemas.openxmlformats.org/officeDocument/2006/relationships/slideMaster" Target="slideMasters/slideMaster11.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slide" Target="slides/slide34.xml"/><Relationship Id="rId53" Type="http://schemas.openxmlformats.org/officeDocument/2006/relationships/slide" Target="slides/slide42.xml"/><Relationship Id="rId58" Type="http://schemas.openxmlformats.org/officeDocument/2006/relationships/tableStyles" Target="tableStyles.xml"/><Relationship Id="rId5" Type="http://schemas.openxmlformats.org/officeDocument/2006/relationships/slideMaster" Target="slideMasters/slideMaster5.xml"/><Relationship Id="rId19" Type="http://schemas.openxmlformats.org/officeDocument/2006/relationships/slide" Target="slides/slide8.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slide" Target="slides/slide37.xml"/><Relationship Id="rId56" Type="http://schemas.openxmlformats.org/officeDocument/2006/relationships/viewProps" Target="viewProps.xml"/><Relationship Id="rId8" Type="http://schemas.openxmlformats.org/officeDocument/2006/relationships/slideMaster" Target="slideMasters/slideMaster8.xml"/><Relationship Id="rId51" Type="http://schemas.openxmlformats.org/officeDocument/2006/relationships/slide" Target="slides/slide40.xml"/><Relationship Id="rId3" Type="http://schemas.openxmlformats.org/officeDocument/2006/relationships/slideMaster" Target="slideMasters/slideMaster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20" Type="http://schemas.openxmlformats.org/officeDocument/2006/relationships/slide" Target="slides/slide9.xml"/><Relationship Id="rId41" Type="http://schemas.openxmlformats.org/officeDocument/2006/relationships/slide" Target="slides/slide30.xml"/><Relationship Id="rId54" Type="http://schemas.openxmlformats.org/officeDocument/2006/relationships/slide" Target="slides/slide43.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 Id="rId57" Type="http://schemas.openxmlformats.org/officeDocument/2006/relationships/theme" Target="theme/theme1.xml"/><Relationship Id="rId10" Type="http://schemas.openxmlformats.org/officeDocument/2006/relationships/slideMaster" Target="slideMasters/slideMaster10.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slide" Target="slides/slide4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685800" y="2130480"/>
            <a:ext cx="7772040" cy="1469520"/>
          </a:xfrm>
          <a:prstGeom prst="rect">
            <a:avLst/>
          </a:prstGeom>
          <a:noFill/>
          <a:ln w="0">
            <a:noFill/>
          </a:ln>
        </p:spPr>
        <p:txBody>
          <a:bodyPr lIns="0" tIns="0" rIns="0" bIns="0" anchor="ctr">
            <a:spAutoFit/>
          </a:bodyPr>
          <a:lstStyle/>
          <a:p>
            <a:pPr indent="0">
              <a:buNone/>
            </a:pPr>
            <a:endParaRPr lang="en-US" sz="1800" b="0" u="none" strike="noStrike">
              <a:solidFill>
                <a:schemeClr val="dk1"/>
              </a:solidFill>
              <a:effectLst/>
              <a:uFillTx/>
              <a:latin typeface="Calibri"/>
            </a:endParaRPr>
          </a:p>
        </p:txBody>
      </p:sp>
      <p:sp>
        <p:nvSpPr>
          <p:cNvPr id="8" name="PlaceHolder 2"/>
          <p:cNvSpPr>
            <a:spLocks noGrp="1"/>
          </p:cNvSpPr>
          <p:nvPr>
            <p:ph type="subTitle"/>
          </p:nvPr>
        </p:nvSpPr>
        <p:spPr>
          <a:xfrm>
            <a:off x="457200" y="1604520"/>
            <a:ext cx="8229240" cy="3977280"/>
          </a:xfrm>
          <a:prstGeom prst="rect">
            <a:avLst/>
          </a:prstGeom>
          <a:noFill/>
          <a:ln w="0">
            <a:noFill/>
          </a:ln>
        </p:spPr>
        <p:txBody>
          <a:bodyPr lIns="0" tIns="0" rIns="0" bIns="0" anchor="ctr">
            <a:spAutoFit/>
          </a:bodyPr>
          <a:lstStyle/>
          <a:p>
            <a:pPr indent="0" algn="ctr">
              <a:buNone/>
            </a:pPr>
            <a:endParaRPr lang="fr-FR" sz="3200" b="0" u="none" strike="noStrike">
              <a:solidFill>
                <a:srgbClr val="000000"/>
              </a:solidFill>
              <a:effectLst/>
              <a:uFillTx/>
              <a:latin typeface="Arial"/>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74F84EB0-CD6C-4FAA-A4BC-0799D0383E0F}" type="slidenum">
              <a:t>‹N°›</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Vertical Text">
    <p:spTree>
      <p:nvGrpSpPr>
        <p:cNvPr id="1" name=""/>
        <p:cNvGrpSpPr/>
        <p:nvPr/>
      </p:nvGrpSpPr>
      <p:grpSpPr>
        <a:xfrm>
          <a:off x="0" y="0"/>
          <a:ext cx="0" cy="0"/>
          <a:chOff x="0" y="0"/>
          <a:chExt cx="0" cy="0"/>
        </a:xfrm>
      </p:grpSpPr>
      <p:sp>
        <p:nvSpPr>
          <p:cNvPr id="14" name="PlaceHolder 1"/>
          <p:cNvSpPr>
            <a:spLocks noGrp="1"/>
          </p:cNvSpPr>
          <p:nvPr>
            <p:ph type="title"/>
          </p:nvPr>
        </p:nvSpPr>
        <p:spPr>
          <a:xfrm>
            <a:off x="685800" y="2130480"/>
            <a:ext cx="7772040" cy="1469520"/>
          </a:xfrm>
          <a:prstGeom prst="rect">
            <a:avLst/>
          </a:prstGeom>
          <a:noFill/>
          <a:ln w="0">
            <a:noFill/>
          </a:ln>
        </p:spPr>
        <p:txBody>
          <a:bodyPr lIns="0" tIns="0" rIns="0" bIns="0" anchor="ctr">
            <a:spAutoFit/>
          </a:bodyPr>
          <a:lstStyle/>
          <a:p>
            <a:pPr indent="0">
              <a:buNone/>
            </a:pPr>
            <a:endParaRPr lang="en-US" sz="1800" b="0" u="none" strike="noStrike">
              <a:solidFill>
                <a:schemeClr val="dk1"/>
              </a:solidFill>
              <a:effectLst/>
              <a:uFillTx/>
              <a:latin typeface="Calibri"/>
            </a:endParaRPr>
          </a:p>
        </p:txBody>
      </p:sp>
      <p:sp>
        <p:nvSpPr>
          <p:cNvPr id="15"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chemeClr val="dk1"/>
              </a:solidFill>
              <a:effectLst/>
              <a:uFillTx/>
              <a:latin typeface="Calibri"/>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2CF515C7-EC3D-483E-A57E-444C5E6FAF48}" type="slidenum">
              <a:t>‹N°›</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Vertical Title and Text">
    <p:spTree>
      <p:nvGrpSpPr>
        <p:cNvPr id="1" name=""/>
        <p:cNvGrpSpPr/>
        <p:nvPr/>
      </p:nvGrpSpPr>
      <p:grpSpPr>
        <a:xfrm>
          <a:off x="0" y="0"/>
          <a:ext cx="0" cy="0"/>
          <a:chOff x="0" y="0"/>
          <a:chExt cx="0" cy="0"/>
        </a:xfrm>
      </p:grpSpPr>
      <p:sp>
        <p:nvSpPr>
          <p:cNvPr id="21" name="PlaceHolder 1"/>
          <p:cNvSpPr>
            <a:spLocks noGrp="1"/>
          </p:cNvSpPr>
          <p:nvPr>
            <p:ph type="title"/>
          </p:nvPr>
        </p:nvSpPr>
        <p:spPr>
          <a:xfrm>
            <a:off x="685800" y="2130480"/>
            <a:ext cx="7772040" cy="1469520"/>
          </a:xfrm>
          <a:prstGeom prst="rect">
            <a:avLst/>
          </a:prstGeom>
          <a:noFill/>
          <a:ln w="0">
            <a:noFill/>
          </a:ln>
        </p:spPr>
        <p:txBody>
          <a:bodyPr lIns="0" tIns="0" rIns="0" bIns="0" anchor="ctr">
            <a:spAutoFit/>
          </a:bodyPr>
          <a:lstStyle/>
          <a:p>
            <a:pPr indent="0">
              <a:buNone/>
            </a:pPr>
            <a:endParaRPr lang="en-US" sz="1800" b="0" u="none" strike="noStrike">
              <a:solidFill>
                <a:schemeClr val="dk1"/>
              </a:solidFill>
              <a:effectLst/>
              <a:uFillTx/>
              <a:latin typeface="Calibri"/>
            </a:endParaRPr>
          </a:p>
        </p:txBody>
      </p:sp>
      <p:sp>
        <p:nvSpPr>
          <p:cNvPr id="22"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chemeClr val="dk1"/>
              </a:solidFill>
              <a:effectLst/>
              <a:uFillTx/>
              <a:latin typeface="Calibri"/>
            </a:endParaRPr>
          </a:p>
        </p:txBody>
      </p:sp>
      <p:sp>
        <p:nvSpPr>
          <p:cNvPr id="4" name="PlaceHolder 3"/>
          <p:cNvSpPr>
            <a:spLocks noGrp="1"/>
          </p:cNvSpPr>
          <p:nvPr>
            <p:ph type="ftr" idx="8"/>
          </p:nvPr>
        </p:nvSpPr>
        <p:spPr/>
        <p:txBody>
          <a:bodyPr/>
          <a:lstStyle/>
          <a:p>
            <a:r>
              <a:t>Footer</a:t>
            </a:r>
          </a:p>
        </p:txBody>
      </p:sp>
      <p:sp>
        <p:nvSpPr>
          <p:cNvPr id="5" name="PlaceHolder 4"/>
          <p:cNvSpPr>
            <a:spLocks noGrp="1"/>
          </p:cNvSpPr>
          <p:nvPr>
            <p:ph type="sldNum" idx="9"/>
          </p:nvPr>
        </p:nvSpPr>
        <p:spPr/>
        <p:txBody>
          <a:bodyPr/>
          <a:lstStyle/>
          <a:p>
            <a:fld id="{DB36705A-973C-4B25-A2E0-DA3CCC215D78}" type="slidenum">
              <a:t>‹N°›</a:t>
            </a:fld>
            <a:endParaRPr/>
          </a:p>
        </p:txBody>
      </p:sp>
      <p:sp>
        <p:nvSpPr>
          <p:cNvPr id="6" name="PlaceHolder 5"/>
          <p:cNvSpPr>
            <a:spLocks noGrp="1"/>
          </p:cNvSpPr>
          <p:nvPr>
            <p:ph type="dt" idx="7"/>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85800" y="2130480"/>
            <a:ext cx="7772040" cy="1469520"/>
          </a:xfrm>
          <a:prstGeom prst="rect">
            <a:avLst/>
          </a:prstGeom>
          <a:noFill/>
          <a:ln w="0">
            <a:noFill/>
          </a:ln>
        </p:spPr>
        <p:txBody>
          <a:bodyPr lIns="0" tIns="0" rIns="0" bIns="0" anchor="ctr">
            <a:spAutoFit/>
          </a:bodyPr>
          <a:lstStyle/>
          <a:p>
            <a:pPr indent="0">
              <a:buNone/>
            </a:pPr>
            <a:endParaRPr lang="en-US" sz="1800" b="0" u="none" strike="noStrike">
              <a:solidFill>
                <a:schemeClr val="dk1"/>
              </a:solidFill>
              <a:effectLst/>
              <a:uFillTx/>
              <a:latin typeface="Calibri"/>
            </a:endParaRPr>
          </a:p>
        </p:txBody>
      </p:sp>
      <p:sp>
        <p:nvSpPr>
          <p:cNvPr id="29"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chemeClr val="dk1"/>
              </a:solidFill>
              <a:effectLst/>
              <a:uFillTx/>
              <a:latin typeface="Calibri"/>
            </a:endParaRPr>
          </a:p>
        </p:txBody>
      </p:sp>
      <p:sp>
        <p:nvSpPr>
          <p:cNvPr id="4" name="PlaceHolder 3"/>
          <p:cNvSpPr>
            <a:spLocks noGrp="1"/>
          </p:cNvSpPr>
          <p:nvPr>
            <p:ph type="ftr" idx="11"/>
          </p:nvPr>
        </p:nvSpPr>
        <p:spPr/>
        <p:txBody>
          <a:bodyPr/>
          <a:lstStyle/>
          <a:p>
            <a:r>
              <a:t>Footer</a:t>
            </a:r>
          </a:p>
        </p:txBody>
      </p:sp>
      <p:sp>
        <p:nvSpPr>
          <p:cNvPr id="5" name="PlaceHolder 4"/>
          <p:cNvSpPr>
            <a:spLocks noGrp="1"/>
          </p:cNvSpPr>
          <p:nvPr>
            <p:ph type="sldNum" idx="12"/>
          </p:nvPr>
        </p:nvSpPr>
        <p:spPr/>
        <p:txBody>
          <a:bodyPr/>
          <a:lstStyle/>
          <a:p>
            <a:fld id="{2809B633-4710-4409-A1E1-4BCDAC76FFFE}" type="slidenum">
              <a:t>‹N°›</a:t>
            </a:fld>
            <a:endParaRPr/>
          </a:p>
        </p:txBody>
      </p:sp>
      <p:sp>
        <p:nvSpPr>
          <p:cNvPr id="6" name="PlaceHolder 5"/>
          <p:cNvSpPr>
            <a:spLocks noGrp="1"/>
          </p:cNvSpPr>
          <p:nvPr>
            <p:ph type="dt" idx="10"/>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1"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1"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1"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1" Type="http://schemas.openxmlformats.org/officeDocument/2006/relationships/theme" Target="../theme/theme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&lt;date/heure&gt;</a:t>
            </a:r>
            <a:endParaRPr lang="fr-FR"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79EBBCC-F431-4A0B-AB6B-89A12F3D9D15}" type="slidenum">
              <a:rPr lang="en-US" sz="1200" b="0" u="none" strike="noStrike">
                <a:solidFill>
                  <a:schemeClr val="dk1">
                    <a:tint val="75000"/>
                  </a:schemeClr>
                </a:solidFill>
                <a:effectLst/>
                <a:uFillTx/>
                <a:latin typeface="Calibri"/>
              </a:rPr>
              <a:t>‹N°›</a:t>
            </a:fld>
            <a:endParaRPr lang="fr-FR" sz="1200" b="0" u="none" strike="noStrike">
              <a:solidFill>
                <a:srgbClr val="000000"/>
              </a:solidFill>
              <a:effectLst/>
              <a:uFillTx/>
              <a:latin typeface="Times New Roman"/>
            </a:endParaRPr>
          </a:p>
        </p:txBody>
      </p:sp>
      <p:sp>
        <p:nvSpPr>
          <p:cNvPr id="6" name="PlaceHolder 5"/>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Cliquez pour éditer le format du plan de texte</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niveau de plan</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Troisième niveau de plan</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Quatrième niveau de plan</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Cinquième niveau de plan</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Sixième niveau de plan</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Septième niveau de plan</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10"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p>
            <a:pPr marL="432000" indent="-324000" defTabSz="457200">
              <a:lnSpc>
                <a:spcPct val="100000"/>
              </a:lnSpc>
              <a:spcBef>
                <a:spcPts val="641"/>
              </a:spcBef>
              <a:buClr>
                <a:srgbClr val="000000"/>
              </a:buClr>
              <a:buSzPct val="45000"/>
              <a:buFont typeface="Wingdings" charset="2"/>
              <a:buChar char=""/>
            </a:pPr>
            <a:r>
              <a:rPr lang="en-US" sz="3200" b="0" u="none" strike="noStrike">
                <a:solidFill>
                  <a:schemeClr val="dk1"/>
                </a:solidFill>
                <a:effectLst/>
                <a:uFillTx/>
                <a:latin typeface="Calibri"/>
              </a:rPr>
              <a:t>Click to edit Master text styles</a:t>
            </a:r>
          </a:p>
          <a:p>
            <a:pPr marL="864000" lvl="1" indent="-324000" defTabSz="457200">
              <a:lnSpc>
                <a:spcPct val="100000"/>
              </a:lnSpc>
              <a:spcBef>
                <a:spcPts val="561"/>
              </a:spcBef>
              <a:buClr>
                <a:srgbClr val="000000"/>
              </a:buClr>
              <a:buSzPct val="75000"/>
              <a:buFont typeface="Symbol" charset="2"/>
              <a:buChar char=""/>
            </a:pPr>
            <a:r>
              <a:rPr lang="en-US" sz="2800" b="0" u="none" strike="noStrike">
                <a:solidFill>
                  <a:schemeClr val="dk1"/>
                </a:solidFill>
                <a:effectLst/>
                <a:uFillTx/>
                <a:latin typeface="Calibri"/>
              </a:rPr>
              <a:t>Second level</a:t>
            </a:r>
          </a:p>
          <a:p>
            <a:pPr marL="1296000" lvl="2" indent="-288000" defTabSz="457200">
              <a:lnSpc>
                <a:spcPct val="100000"/>
              </a:lnSpc>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level</a:t>
            </a:r>
          </a:p>
          <a:p>
            <a:pPr marL="1728000" lvl="3" indent="-216000" defTabSz="457200">
              <a:lnSpc>
                <a:spcPct val="100000"/>
              </a:lnSpc>
              <a:spcBef>
                <a:spcPts val="400"/>
              </a:spcBef>
              <a:buClr>
                <a:srgbClr val="000000"/>
              </a:buClr>
              <a:buSzPct val="75000"/>
              <a:buFont typeface="Symbol" charset="2"/>
              <a:buChar char=""/>
            </a:pPr>
            <a:r>
              <a:rPr lang="en-US" sz="2000" b="0" u="none" strike="noStrike">
                <a:solidFill>
                  <a:schemeClr val="dk1"/>
                </a:solidFill>
                <a:effectLst/>
                <a:uFillTx/>
                <a:latin typeface="Calibri"/>
              </a:rPr>
              <a:t>Fourth level</a:t>
            </a:r>
          </a:p>
          <a:p>
            <a:pPr marL="2160000" lvl="4" indent="-216000" defTabSz="457200">
              <a:lnSpc>
                <a:spcPct val="100000"/>
              </a:lnSpc>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level</a:t>
            </a:r>
          </a:p>
        </p:txBody>
      </p:sp>
      <p:sp>
        <p:nvSpPr>
          <p:cNvPr id="11"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&lt;date/heure&gt;</a:t>
            </a:r>
            <a:endParaRPr lang="fr-FR" sz="1200" b="0" u="none" strike="noStrike">
              <a:solidFill>
                <a:srgbClr val="000000"/>
              </a:solidFill>
              <a:effectLst/>
              <a:uFillTx/>
              <a:latin typeface="Times New Roman"/>
            </a:endParaRPr>
          </a:p>
        </p:txBody>
      </p:sp>
      <p:sp>
        <p:nvSpPr>
          <p:cNvPr id="12"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p>
        </p:txBody>
      </p:sp>
      <p:sp>
        <p:nvSpPr>
          <p:cNvPr id="13"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1FDB348-23C6-4BDF-924A-D4B47DFFAA2F}" type="slidenum">
              <a:rPr lang="en-US" sz="1200" b="0" u="none" strike="noStrike">
                <a:solidFill>
                  <a:schemeClr val="dk1">
                    <a:tint val="75000"/>
                  </a:schemeClr>
                </a:solidFill>
                <a:effectLst/>
                <a:uFillTx/>
                <a:latin typeface="Calibri"/>
              </a:rPr>
              <a:t>‹N°›</a:t>
            </a:fld>
            <a:endParaRPr lang="fr-FR"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t" anchorCtr="1">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17"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p>
            <a:pPr marL="432000" indent="-324000" defTabSz="457200">
              <a:lnSpc>
                <a:spcPct val="100000"/>
              </a:lnSpc>
              <a:spcBef>
                <a:spcPts val="641"/>
              </a:spcBef>
              <a:buClr>
                <a:srgbClr val="000000"/>
              </a:buClr>
              <a:buSzPct val="45000"/>
              <a:buFont typeface="Wingdings" charset="2"/>
              <a:buChar char=""/>
            </a:pPr>
            <a:r>
              <a:rPr lang="en-US" sz="3200" b="0" u="none" strike="noStrike">
                <a:solidFill>
                  <a:schemeClr val="dk1"/>
                </a:solidFill>
                <a:effectLst/>
                <a:uFillTx/>
                <a:latin typeface="Calibri"/>
              </a:rPr>
              <a:t>Click to edit Master text styles</a:t>
            </a:r>
          </a:p>
          <a:p>
            <a:pPr marL="864000" lvl="1" indent="-324000" defTabSz="457200">
              <a:lnSpc>
                <a:spcPct val="100000"/>
              </a:lnSpc>
              <a:spcBef>
                <a:spcPts val="561"/>
              </a:spcBef>
              <a:buClr>
                <a:srgbClr val="000000"/>
              </a:buClr>
              <a:buSzPct val="75000"/>
              <a:buFont typeface="Symbol" charset="2"/>
              <a:buChar char=""/>
            </a:pPr>
            <a:r>
              <a:rPr lang="en-US" sz="2800" b="0" u="none" strike="noStrike">
                <a:solidFill>
                  <a:schemeClr val="dk1"/>
                </a:solidFill>
                <a:effectLst/>
                <a:uFillTx/>
                <a:latin typeface="Calibri"/>
              </a:rPr>
              <a:t>Second level</a:t>
            </a:r>
          </a:p>
          <a:p>
            <a:pPr marL="1296000" lvl="2" indent="-288000" defTabSz="457200">
              <a:lnSpc>
                <a:spcPct val="100000"/>
              </a:lnSpc>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level</a:t>
            </a:r>
          </a:p>
          <a:p>
            <a:pPr marL="1728000" lvl="3" indent="-216000" defTabSz="457200">
              <a:lnSpc>
                <a:spcPct val="100000"/>
              </a:lnSpc>
              <a:spcBef>
                <a:spcPts val="400"/>
              </a:spcBef>
              <a:buClr>
                <a:srgbClr val="000000"/>
              </a:buClr>
              <a:buSzPct val="75000"/>
              <a:buFont typeface="Symbol" charset="2"/>
              <a:buChar char=""/>
            </a:pPr>
            <a:r>
              <a:rPr lang="en-US" sz="2000" b="0" u="none" strike="noStrike">
                <a:solidFill>
                  <a:schemeClr val="dk1"/>
                </a:solidFill>
                <a:effectLst/>
                <a:uFillTx/>
                <a:latin typeface="Calibri"/>
              </a:rPr>
              <a:t>Fourth level</a:t>
            </a:r>
          </a:p>
          <a:p>
            <a:pPr marL="2160000" lvl="4" indent="-216000" defTabSz="457200">
              <a:lnSpc>
                <a:spcPct val="100000"/>
              </a:lnSpc>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level</a:t>
            </a:r>
          </a:p>
        </p:txBody>
      </p:sp>
      <p:sp>
        <p:nvSpPr>
          <p:cNvPr id="18"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&lt;date/heure&gt;</a:t>
            </a:r>
            <a:endParaRPr lang="fr-FR" sz="1200" b="0" u="none" strike="noStrike">
              <a:solidFill>
                <a:srgbClr val="000000"/>
              </a:solidFill>
              <a:effectLst/>
              <a:uFillTx/>
              <a:latin typeface="Times New Roman"/>
            </a:endParaRPr>
          </a:p>
        </p:txBody>
      </p:sp>
      <p:sp>
        <p:nvSpPr>
          <p:cNvPr id="19"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p>
        </p:txBody>
      </p:sp>
      <p:sp>
        <p:nvSpPr>
          <p:cNvPr id="20"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CF023A3-A59C-4A63-948C-BFF50C172CE2}" type="slidenum">
              <a:rPr lang="en-US" sz="1200" b="0" u="none" strike="noStrike">
                <a:solidFill>
                  <a:schemeClr val="dk1">
                    <a:tint val="75000"/>
                  </a:schemeClr>
                </a:solidFill>
                <a:effectLst/>
                <a:uFillTx/>
                <a:latin typeface="Calibri"/>
              </a:rPr>
              <a:t>‹N°›</a:t>
            </a:fld>
            <a:endParaRPr lang="fr-FR"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24"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p>
            <a:pPr marL="432000" indent="-324000" defTabSz="457200">
              <a:lnSpc>
                <a:spcPct val="100000"/>
              </a:lnSpc>
              <a:spcBef>
                <a:spcPts val="641"/>
              </a:spcBef>
              <a:buClr>
                <a:srgbClr val="000000"/>
              </a:buClr>
              <a:buSzPct val="45000"/>
              <a:buFont typeface="Wingdings" charset="2"/>
              <a:buChar char=""/>
            </a:pPr>
            <a:r>
              <a:rPr lang="en-US" sz="3200" b="0" u="none" strike="noStrike">
                <a:solidFill>
                  <a:schemeClr val="dk1"/>
                </a:solidFill>
                <a:effectLst/>
                <a:uFillTx/>
                <a:latin typeface="Calibri"/>
              </a:rPr>
              <a:t>Click to edit Master text styles</a:t>
            </a:r>
          </a:p>
          <a:p>
            <a:pPr marL="864000" lvl="1" indent="-324000" defTabSz="457200">
              <a:lnSpc>
                <a:spcPct val="100000"/>
              </a:lnSpc>
              <a:spcBef>
                <a:spcPts val="561"/>
              </a:spcBef>
              <a:buClr>
                <a:srgbClr val="000000"/>
              </a:buClr>
              <a:buSzPct val="75000"/>
              <a:buFont typeface="Symbol" charset="2"/>
              <a:buChar char=""/>
            </a:pPr>
            <a:r>
              <a:rPr lang="en-US" sz="2800" b="0" u="none" strike="noStrike">
                <a:solidFill>
                  <a:schemeClr val="dk1"/>
                </a:solidFill>
                <a:effectLst/>
                <a:uFillTx/>
                <a:latin typeface="Calibri"/>
              </a:rPr>
              <a:t>Second level</a:t>
            </a:r>
          </a:p>
          <a:p>
            <a:pPr marL="1296000" lvl="2" indent="-288000" defTabSz="457200">
              <a:lnSpc>
                <a:spcPct val="100000"/>
              </a:lnSpc>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level</a:t>
            </a:r>
          </a:p>
          <a:p>
            <a:pPr marL="1728000" lvl="3" indent="-216000" defTabSz="457200">
              <a:lnSpc>
                <a:spcPct val="100000"/>
              </a:lnSpc>
              <a:spcBef>
                <a:spcPts val="400"/>
              </a:spcBef>
              <a:buClr>
                <a:srgbClr val="000000"/>
              </a:buClr>
              <a:buSzPct val="75000"/>
              <a:buFont typeface="Symbol" charset="2"/>
              <a:buChar char=""/>
            </a:pPr>
            <a:r>
              <a:rPr lang="en-US" sz="2000" b="0" u="none" strike="noStrike">
                <a:solidFill>
                  <a:schemeClr val="dk1"/>
                </a:solidFill>
                <a:effectLst/>
                <a:uFillTx/>
                <a:latin typeface="Calibri"/>
              </a:rPr>
              <a:t>Fourth level</a:t>
            </a:r>
          </a:p>
          <a:p>
            <a:pPr marL="2160000" lvl="4" indent="-216000" defTabSz="457200">
              <a:lnSpc>
                <a:spcPct val="100000"/>
              </a:lnSpc>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level</a:t>
            </a:r>
          </a:p>
        </p:txBody>
      </p:sp>
      <p:sp>
        <p:nvSpPr>
          <p:cNvPr id="25"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&lt;date/heure&gt;</a:t>
            </a:r>
            <a:endParaRPr lang="fr-FR" sz="1200" b="0" u="none" strike="noStrike">
              <a:solidFill>
                <a:srgbClr val="000000"/>
              </a:solidFill>
              <a:effectLst/>
              <a:uFillTx/>
              <a:latin typeface="Times New Roman"/>
            </a:endParaRPr>
          </a:p>
        </p:txBody>
      </p:sp>
      <p:sp>
        <p:nvSpPr>
          <p:cNvPr id="26"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p>
        </p:txBody>
      </p:sp>
      <p:sp>
        <p:nvSpPr>
          <p:cNvPr id="27"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DF8EFF8-0201-4BA1-AB47-1A93276224A8}" type="slidenum">
              <a:rPr lang="en-US" sz="1200" b="0" u="none" strike="noStrike">
                <a:solidFill>
                  <a:schemeClr val="dk1">
                    <a:tint val="75000"/>
                  </a:schemeClr>
                </a:solidFill>
                <a:effectLst/>
                <a:uFillTx/>
                <a:latin typeface="Calibri"/>
              </a:rPr>
              <a:t>‹N°›</a:t>
            </a:fld>
            <a:endParaRPr lang="fr-FR"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p>
            <a:pPr indent="0" defTabSz="457200">
              <a:lnSpc>
                <a:spcPct val="100000"/>
              </a:lnSpc>
              <a:buNone/>
            </a:pPr>
            <a:r>
              <a:rPr lang="en-US" sz="4000" b="1" u="none" strike="noStrike" cap="all">
                <a:solidFill>
                  <a:schemeClr val="dk1"/>
                </a:solidFill>
                <a:effectLst/>
                <a:uFillTx/>
                <a:latin typeface="Calibri"/>
              </a:rPr>
              <a:t>Click to edit Master title style</a:t>
            </a:r>
            <a:endParaRPr lang="en-US" sz="4000" b="0" u="none" strike="noStrike">
              <a:solidFill>
                <a:schemeClr val="dk1"/>
              </a:solidFill>
              <a:effectLst/>
              <a:uFillTx/>
              <a:latin typeface="Calibri"/>
            </a:endParaRPr>
          </a:p>
        </p:txBody>
      </p:sp>
      <p:sp>
        <p:nvSpPr>
          <p:cNvPr id="31"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p>
            <a:pPr marL="432000" indent="-324000" defTabSz="457200">
              <a:lnSpc>
                <a:spcPct val="100000"/>
              </a:lnSpc>
              <a:spcBef>
                <a:spcPts val="400"/>
              </a:spcBef>
              <a:buClr>
                <a:srgbClr val="000000"/>
              </a:buClr>
              <a:buSzPct val="45000"/>
              <a:buFont typeface="Wingdings" charset="2"/>
              <a:buChar char=""/>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solidFill>
              <a:effectLst/>
              <a:uFillTx/>
              <a:latin typeface="Calibri"/>
            </a:endParaRPr>
          </a:p>
        </p:txBody>
      </p:sp>
      <p:sp>
        <p:nvSpPr>
          <p:cNvPr id="32"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&lt;date/heure&gt;</a:t>
            </a:r>
            <a:endParaRPr lang="fr-FR" sz="1200" b="0" u="none" strike="noStrike">
              <a:solidFill>
                <a:srgbClr val="000000"/>
              </a:solidFill>
              <a:effectLst/>
              <a:uFillTx/>
              <a:latin typeface="Times New Roman"/>
            </a:endParaRPr>
          </a:p>
        </p:txBody>
      </p:sp>
      <p:sp>
        <p:nvSpPr>
          <p:cNvPr id="33"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p>
        </p:txBody>
      </p:sp>
      <p:sp>
        <p:nvSpPr>
          <p:cNvPr id="34"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7444CC1-E54F-4B49-87ED-A97BE87A3F0C}" type="slidenum">
              <a:rPr lang="en-US" sz="1200" b="0" u="none" strike="noStrike">
                <a:solidFill>
                  <a:schemeClr val="dk1">
                    <a:tint val="75000"/>
                  </a:schemeClr>
                </a:solidFill>
                <a:effectLst/>
                <a:uFillTx/>
                <a:latin typeface="Calibri"/>
              </a:rPr>
              <a:t>‹N°›</a:t>
            </a:fld>
            <a:endParaRPr lang="fr-FR"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36"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p>
            <a:pPr marL="432000" indent="-324000" defTabSz="457200">
              <a:lnSpc>
                <a:spcPct val="100000"/>
              </a:lnSpc>
              <a:spcBef>
                <a:spcPts val="561"/>
              </a:spcBef>
              <a:buClr>
                <a:srgbClr val="000000"/>
              </a:buClr>
              <a:buSzPct val="45000"/>
              <a:buFont typeface="Wingdings" charset="2"/>
              <a:buChar char=""/>
            </a:pPr>
            <a:r>
              <a:rPr lang="en-US" sz="2800" b="0" u="none" strike="noStrike">
                <a:solidFill>
                  <a:schemeClr val="dk1"/>
                </a:solidFill>
                <a:effectLst/>
                <a:uFillTx/>
                <a:latin typeface="Calibri"/>
              </a:rPr>
              <a:t>Click to edit Master text styles</a:t>
            </a:r>
          </a:p>
          <a:p>
            <a:pPr marL="864000" lvl="1" indent="-324000" defTabSz="457200">
              <a:lnSpc>
                <a:spcPct val="100000"/>
              </a:lnSpc>
              <a:spcBef>
                <a:spcPts val="479"/>
              </a:spcBef>
              <a:buClr>
                <a:srgbClr val="000000"/>
              </a:buClr>
              <a:buSzPct val="75000"/>
              <a:buFont typeface="Symbol" charset="2"/>
              <a:buChar char=""/>
            </a:pPr>
            <a:r>
              <a:rPr lang="en-US" sz="2400" b="0" u="none" strike="noStrike">
                <a:solidFill>
                  <a:schemeClr val="dk1"/>
                </a:solidFill>
                <a:effectLst/>
                <a:uFillTx/>
                <a:latin typeface="Calibri"/>
              </a:rPr>
              <a:t>Second level</a:t>
            </a:r>
          </a:p>
          <a:p>
            <a:pPr marL="1296000" lvl="2" indent="-288000" defTabSz="457200">
              <a:lnSpc>
                <a:spcPct val="100000"/>
              </a:lnSpc>
              <a:spcBef>
                <a:spcPts val="400"/>
              </a:spcBef>
              <a:buClr>
                <a:srgbClr val="000000"/>
              </a:buClr>
              <a:buSzPct val="45000"/>
              <a:buFont typeface="Wingdings" charset="2"/>
              <a:buChar char=""/>
            </a:pPr>
            <a:r>
              <a:rPr lang="en-US" sz="2000" b="0" u="none" strike="noStrike">
                <a:solidFill>
                  <a:schemeClr val="dk1"/>
                </a:solidFill>
                <a:effectLst/>
                <a:uFillTx/>
                <a:latin typeface="Calibri"/>
              </a:rPr>
              <a:t>Third level</a:t>
            </a:r>
          </a:p>
          <a:p>
            <a:pPr marL="1728000" lvl="3" indent="-216000" defTabSz="457200">
              <a:lnSpc>
                <a:spcPct val="100000"/>
              </a:lnSpc>
              <a:spcBef>
                <a:spcPts val="360"/>
              </a:spcBef>
              <a:buClr>
                <a:srgbClr val="000000"/>
              </a:buClr>
              <a:buSzPct val="75000"/>
              <a:buFont typeface="Symbol" charset="2"/>
              <a:buChar char=""/>
            </a:pPr>
            <a:r>
              <a:rPr lang="en-US" sz="1800" b="0" u="none" strike="noStrike">
                <a:solidFill>
                  <a:schemeClr val="dk1"/>
                </a:solidFill>
                <a:effectLst/>
                <a:uFillTx/>
                <a:latin typeface="Calibri"/>
              </a:rPr>
              <a:t>Fourth level</a:t>
            </a:r>
          </a:p>
          <a:p>
            <a:pPr marL="2160000" lvl="4" indent="-216000" defTabSz="457200">
              <a:lnSpc>
                <a:spcPct val="100000"/>
              </a:lnSpc>
              <a:spcBef>
                <a:spcPts val="360"/>
              </a:spcBef>
              <a:buClr>
                <a:srgbClr val="000000"/>
              </a:buClr>
              <a:buSzPct val="45000"/>
              <a:buFont typeface="Wingdings" charset="2"/>
              <a:buChar char=""/>
            </a:pPr>
            <a:r>
              <a:rPr lang="en-US" sz="1800" b="0" u="none" strike="noStrike">
                <a:solidFill>
                  <a:schemeClr val="dk1"/>
                </a:solidFill>
                <a:effectLst/>
                <a:uFillTx/>
                <a:latin typeface="Calibri"/>
              </a:rPr>
              <a:t>Fifth level</a:t>
            </a:r>
          </a:p>
        </p:txBody>
      </p:sp>
      <p:sp>
        <p:nvSpPr>
          <p:cNvPr id="37"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p>
            <a:pPr marL="343080" indent="-34308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38"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&lt;date/heure&gt;</a:t>
            </a:r>
            <a:endParaRPr lang="fr-FR" sz="1200" b="0" u="none" strike="noStrike">
              <a:solidFill>
                <a:srgbClr val="000000"/>
              </a:solidFill>
              <a:effectLst/>
              <a:uFillTx/>
              <a:latin typeface="Times New Roman"/>
            </a:endParaRPr>
          </a:p>
        </p:txBody>
      </p:sp>
      <p:sp>
        <p:nvSpPr>
          <p:cNvPr id="39"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p>
        </p:txBody>
      </p:sp>
      <p:sp>
        <p:nvSpPr>
          <p:cNvPr id="40"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480ADF5-9174-4B61-A7CE-FCD1C5953E0C}" type="slidenum">
              <a:rPr lang="en-US" sz="1200" b="0" u="none" strike="noStrike">
                <a:solidFill>
                  <a:schemeClr val="dk1">
                    <a:tint val="75000"/>
                  </a:schemeClr>
                </a:solidFill>
                <a:effectLst/>
                <a:uFillTx/>
                <a:latin typeface="Calibri"/>
              </a:rPr>
              <a:t>‹N°›</a:t>
            </a:fld>
            <a:endParaRPr lang="fr-FR"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42"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p>
            <a:pPr marL="432000" indent="-324000" defTabSz="457200">
              <a:lnSpc>
                <a:spcPct val="100000"/>
              </a:lnSpc>
              <a:spcBef>
                <a:spcPts val="479"/>
              </a:spcBef>
              <a:buClr>
                <a:srgbClr val="000000"/>
              </a:buClr>
              <a:buSzPct val="45000"/>
              <a:buFont typeface="Wingdings" charset="2"/>
              <a:buChar char=""/>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43"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p>
            <a:pPr marL="343080" indent="-34308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p>
          <a:p>
            <a:pPr marL="743040" lvl="1" indent="-28584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p>
          <a:p>
            <a:pPr marL="1143000" lvl="2"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p>
          <a:p>
            <a:pPr marL="1600200" lvl="3"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p>
          <a:p>
            <a:pPr marL="2057400" lvl="4"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p>
        </p:txBody>
      </p:sp>
      <p:sp>
        <p:nvSpPr>
          <p:cNvPr id="44"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p>
            <a:pPr indent="0"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45"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p>
            <a:pPr marL="343080" indent="-34308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p>
          <a:p>
            <a:pPr marL="743040" lvl="1" indent="-28584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p>
          <a:p>
            <a:pPr marL="1143000" lvl="2"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p>
          <a:p>
            <a:pPr marL="1600200" lvl="3"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p>
          <a:p>
            <a:pPr marL="2057400" lvl="4"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p>
        </p:txBody>
      </p:sp>
      <p:sp>
        <p:nvSpPr>
          <p:cNvPr id="46"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&lt;date/heure&gt;</a:t>
            </a:r>
            <a:endParaRPr lang="fr-FR" sz="1200" b="0" u="none" strike="noStrike">
              <a:solidFill>
                <a:srgbClr val="000000"/>
              </a:solidFill>
              <a:effectLst/>
              <a:uFillTx/>
              <a:latin typeface="Times New Roman"/>
            </a:endParaRPr>
          </a:p>
        </p:txBody>
      </p:sp>
      <p:sp>
        <p:nvSpPr>
          <p:cNvPr id="47"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p>
        </p:txBody>
      </p:sp>
      <p:sp>
        <p:nvSpPr>
          <p:cNvPr id="48"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7FFC65D-EB52-48E5-9F39-2C72761051A2}" type="slidenum">
              <a:rPr lang="en-US" sz="1200" b="0" u="none" strike="noStrike">
                <a:solidFill>
                  <a:schemeClr val="dk1">
                    <a:tint val="75000"/>
                  </a:schemeClr>
                </a:solidFill>
                <a:effectLst/>
                <a:uFillTx/>
                <a:latin typeface="Calibri"/>
              </a:rPr>
              <a:t>‹N°›</a:t>
            </a:fld>
            <a:endParaRPr lang="fr-FR"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50"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&lt;date/heure&gt;</a:t>
            </a:r>
            <a:endParaRPr lang="fr-FR" sz="1200" b="0" u="none" strike="noStrike">
              <a:solidFill>
                <a:srgbClr val="000000"/>
              </a:solidFill>
              <a:effectLst/>
              <a:uFillTx/>
              <a:latin typeface="Times New Roman"/>
            </a:endParaRPr>
          </a:p>
        </p:txBody>
      </p:sp>
      <p:sp>
        <p:nvSpPr>
          <p:cNvPr id="51"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p>
        </p:txBody>
      </p:sp>
      <p:sp>
        <p:nvSpPr>
          <p:cNvPr id="52"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43CD4E9-1D44-4C04-A102-DB7FC0FECDA5}" type="slidenum">
              <a:rPr lang="en-US" sz="1200" b="0" u="none" strike="noStrike">
                <a:solidFill>
                  <a:schemeClr val="dk1">
                    <a:tint val="75000"/>
                  </a:schemeClr>
                </a:solidFill>
                <a:effectLst/>
                <a:uFillTx/>
                <a:latin typeface="Calibri"/>
              </a:rPr>
              <a:t>‹N°›</a:t>
            </a:fld>
            <a:endParaRPr lang="fr-FR"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&lt;date/heure&gt;</a:t>
            </a:r>
            <a:endParaRPr lang="fr-FR" sz="1200" b="0" u="none" strike="noStrike">
              <a:solidFill>
                <a:srgbClr val="000000"/>
              </a:solidFill>
              <a:effectLst/>
              <a:uFillTx/>
              <a:latin typeface="Times New Roman"/>
            </a:endParaRPr>
          </a:p>
        </p:txBody>
      </p:sp>
      <p:sp>
        <p:nvSpPr>
          <p:cNvPr id="54"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p>
        </p:txBody>
      </p:sp>
      <p:sp>
        <p:nvSpPr>
          <p:cNvPr id="55"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9695325-2765-4D49-88B3-8B18BE329952}" type="slidenum">
              <a:rPr lang="en-US" sz="1200" b="0" u="none" strike="noStrike">
                <a:solidFill>
                  <a:schemeClr val="dk1">
                    <a:tint val="75000"/>
                  </a:schemeClr>
                </a:solidFill>
                <a:effectLst/>
                <a:uFillTx/>
                <a:latin typeface="Calibri"/>
              </a:rPr>
              <a:t>‹N°›</a:t>
            </a:fld>
            <a:endParaRPr lang="fr-FR"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p>
            <a:pPr indent="0" defTabSz="457200">
              <a:lnSpc>
                <a:spcPct val="100000"/>
              </a:lnSpc>
              <a:buNone/>
            </a:pPr>
            <a:r>
              <a:rPr lang="en-US" sz="2000" b="1" u="none" strike="noStrike">
                <a:solidFill>
                  <a:schemeClr val="dk1"/>
                </a:solidFill>
                <a:effectLst/>
                <a:uFillTx/>
                <a:latin typeface="Calibri"/>
              </a:rPr>
              <a:t>Click to edit Master title style</a:t>
            </a:r>
            <a:endParaRPr lang="en-US" sz="2000" b="0" u="none" strike="noStrike">
              <a:solidFill>
                <a:schemeClr val="dk1"/>
              </a:solidFill>
              <a:effectLst/>
              <a:uFillTx/>
              <a:latin typeface="Calibri"/>
            </a:endParaRPr>
          </a:p>
        </p:txBody>
      </p:sp>
      <p:sp>
        <p:nvSpPr>
          <p:cNvPr id="57"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p>
            <a:pPr marL="432000" indent="-324000" defTabSz="457200">
              <a:lnSpc>
                <a:spcPct val="100000"/>
              </a:lnSpc>
              <a:spcBef>
                <a:spcPts val="641"/>
              </a:spcBef>
              <a:buClr>
                <a:srgbClr val="000000"/>
              </a:buClr>
              <a:buSzPct val="45000"/>
              <a:buFont typeface="Wingdings" charset="2"/>
              <a:buChar char=""/>
            </a:pPr>
            <a:r>
              <a:rPr lang="en-US" sz="3200" b="0" u="none" strike="noStrike">
                <a:solidFill>
                  <a:schemeClr val="dk1"/>
                </a:solidFill>
                <a:effectLst/>
                <a:uFillTx/>
                <a:latin typeface="Calibri"/>
              </a:rPr>
              <a:t>Click to edit Master text styles</a:t>
            </a:r>
          </a:p>
          <a:p>
            <a:pPr marL="864000" lvl="1" indent="-324000" defTabSz="457200">
              <a:lnSpc>
                <a:spcPct val="100000"/>
              </a:lnSpc>
              <a:spcBef>
                <a:spcPts val="561"/>
              </a:spcBef>
              <a:buClr>
                <a:srgbClr val="000000"/>
              </a:buClr>
              <a:buSzPct val="75000"/>
              <a:buFont typeface="Symbol" charset="2"/>
              <a:buChar char=""/>
            </a:pPr>
            <a:r>
              <a:rPr lang="en-US" sz="2800" b="0" u="none" strike="noStrike">
                <a:solidFill>
                  <a:schemeClr val="dk1"/>
                </a:solidFill>
                <a:effectLst/>
                <a:uFillTx/>
                <a:latin typeface="Calibri"/>
              </a:rPr>
              <a:t>Second level</a:t>
            </a:r>
          </a:p>
          <a:p>
            <a:pPr marL="1296000" lvl="2" indent="-288000" defTabSz="457200">
              <a:lnSpc>
                <a:spcPct val="100000"/>
              </a:lnSpc>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level</a:t>
            </a:r>
          </a:p>
          <a:p>
            <a:pPr marL="1728000" lvl="3" indent="-216000" defTabSz="457200">
              <a:lnSpc>
                <a:spcPct val="100000"/>
              </a:lnSpc>
              <a:spcBef>
                <a:spcPts val="400"/>
              </a:spcBef>
              <a:buClr>
                <a:srgbClr val="000000"/>
              </a:buClr>
              <a:buSzPct val="75000"/>
              <a:buFont typeface="Symbol" charset="2"/>
              <a:buChar char=""/>
            </a:pPr>
            <a:r>
              <a:rPr lang="en-US" sz="2000" b="0" u="none" strike="noStrike">
                <a:solidFill>
                  <a:schemeClr val="dk1"/>
                </a:solidFill>
                <a:effectLst/>
                <a:uFillTx/>
                <a:latin typeface="Calibri"/>
              </a:rPr>
              <a:t>Fourth level</a:t>
            </a:r>
          </a:p>
          <a:p>
            <a:pPr marL="2160000" lvl="4" indent="-216000" defTabSz="457200">
              <a:lnSpc>
                <a:spcPct val="100000"/>
              </a:lnSpc>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level</a:t>
            </a:r>
          </a:p>
        </p:txBody>
      </p:sp>
      <p:sp>
        <p:nvSpPr>
          <p:cNvPr id="58"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p>
            <a:pPr indent="0"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9"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&lt;date/heure&gt;</a:t>
            </a:r>
            <a:endParaRPr lang="fr-FR" sz="1200" b="0" u="none" strike="noStrike">
              <a:solidFill>
                <a:srgbClr val="000000"/>
              </a:solidFill>
              <a:effectLst/>
              <a:uFillTx/>
              <a:latin typeface="Times New Roman"/>
            </a:endParaRPr>
          </a:p>
        </p:txBody>
      </p:sp>
      <p:sp>
        <p:nvSpPr>
          <p:cNvPr id="60"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p>
        </p:txBody>
      </p:sp>
      <p:sp>
        <p:nvSpPr>
          <p:cNvPr id="61"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6FCEC9C-6E4A-46FA-BA19-32E32A7ACB42}" type="slidenum">
              <a:rPr lang="en-US" sz="1200" b="0" u="none" strike="noStrike">
                <a:solidFill>
                  <a:schemeClr val="dk1">
                    <a:tint val="75000"/>
                  </a:schemeClr>
                </a:solidFill>
                <a:effectLst/>
                <a:uFillTx/>
                <a:latin typeface="Calibri"/>
              </a:rPr>
              <a:t>‹N°›</a:t>
            </a:fld>
            <a:endParaRPr lang="fr-FR"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p>
            <a:pPr indent="0" defTabSz="457200">
              <a:lnSpc>
                <a:spcPct val="100000"/>
              </a:lnSpc>
              <a:buNone/>
            </a:pPr>
            <a:r>
              <a:rPr lang="en-US" sz="2000" b="1" u="none" strike="noStrike">
                <a:solidFill>
                  <a:schemeClr val="dk1"/>
                </a:solidFill>
                <a:effectLst/>
                <a:uFillTx/>
                <a:latin typeface="Calibri"/>
              </a:rPr>
              <a:t>Click to edit Master title style</a:t>
            </a:r>
            <a:endParaRPr lang="en-US" sz="2000" b="0" u="none" strike="noStrike">
              <a:solidFill>
                <a:schemeClr val="dk1"/>
              </a:solidFill>
              <a:effectLst/>
              <a:uFillTx/>
              <a:latin typeface="Calibri"/>
            </a:endParaRPr>
          </a:p>
        </p:txBody>
      </p:sp>
      <p:sp>
        <p:nvSpPr>
          <p:cNvPr id="63" name="PlaceHolder 2"/>
          <p:cNvSpPr>
            <a:spLocks noGrp="1"/>
          </p:cNvSpPr>
          <p:nvPr>
            <p:ph type="body"/>
          </p:nvPr>
        </p:nvSpPr>
        <p:spPr>
          <a:xfrm>
            <a:off x="1792440" y="612720"/>
            <a:ext cx="5486040" cy="41144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Cliquez pour éditer le format du plan de texte</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niveau de plan</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Troisième niveau de plan</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Quatrième niveau de plan</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Cinquième niveau de plan</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Sixième niveau de plan</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Septième niveau de plan</a:t>
            </a:r>
          </a:p>
        </p:txBody>
      </p:sp>
      <p:sp>
        <p:nvSpPr>
          <p:cNvPr id="64"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p>
            <a:pPr indent="0"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65"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&lt;date/heure&gt;</a:t>
            </a:r>
            <a:endParaRPr lang="fr-FR" sz="1200" b="0" u="none" strike="noStrike">
              <a:solidFill>
                <a:srgbClr val="000000"/>
              </a:solidFill>
              <a:effectLst/>
              <a:uFillTx/>
              <a:latin typeface="Times New Roman"/>
            </a:endParaRPr>
          </a:p>
        </p:txBody>
      </p:sp>
      <p:sp>
        <p:nvSpPr>
          <p:cNvPr id="66"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p>
        </p:txBody>
      </p:sp>
      <p:sp>
        <p:nvSpPr>
          <p:cNvPr id="67"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54FEBD4-9054-48CD-BD2E-78FE5A8C5500}" type="slidenum">
              <a:rPr lang="en-US" sz="1200" b="0" u="none" strike="noStrike">
                <a:solidFill>
                  <a:schemeClr val="dk1">
                    <a:tint val="75000"/>
                  </a:schemeClr>
                </a:solidFill>
                <a:effectLst/>
                <a:uFillTx/>
                <a:latin typeface="Calibri"/>
              </a:rPr>
              <a:t>‹N°›</a:t>
            </a:fld>
            <a:endParaRPr lang="fr-FR"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4.xml"/><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hyperlink" Target="https://www.facebook.com/TLB.HBK/" TargetMode="External"/><Relationship Id="rId2" Type="http://schemas.openxmlformats.org/officeDocument/2006/relationships/hyperlink" Target="https://www.google.com/search?q=https://wiki.fruitiers.eu" TargetMode="Externa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540000" y="-209520"/>
            <a:ext cx="7772040" cy="146952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La greffe des arbres fruitiers</a:t>
            </a:r>
            <a:endParaRPr lang="en-US" sz="4400" b="0" u="none" strike="noStrike">
              <a:solidFill>
                <a:schemeClr val="dk1"/>
              </a:solidFill>
              <a:effectLst/>
              <a:uFillTx/>
              <a:latin typeface="Calibri"/>
            </a:endParaRPr>
          </a:p>
        </p:txBody>
      </p:sp>
      <p:sp>
        <p:nvSpPr>
          <p:cNvPr id="69" name="PlaceHolder 2"/>
          <p:cNvSpPr>
            <a:spLocks noGrp="1"/>
          </p:cNvSpPr>
          <p:nvPr>
            <p:ph type="subTitle"/>
          </p:nvPr>
        </p:nvSpPr>
        <p:spPr>
          <a:xfrm>
            <a:off x="1371600" y="3886200"/>
            <a:ext cx="6400440" cy="1752120"/>
          </a:xfrm>
          <a:prstGeom prst="rect">
            <a:avLst/>
          </a:prstGeom>
          <a:noFill/>
          <a:ln w="0">
            <a:noFill/>
          </a:ln>
        </p:spPr>
        <p:txBody>
          <a:bodyPr lIns="91440" tIns="45720" rIns="91440" bIns="45720" anchor="t">
            <a:noAutofit/>
          </a:bodyPr>
          <a:lstStyle/>
          <a:p>
            <a:pPr indent="0" algn="ctr">
              <a:buNone/>
            </a:pPr>
            <a:endParaRPr lang="fr-FR" sz="3200" b="0" u="none" strike="noStrike" dirty="0">
              <a:solidFill>
                <a:schemeClr val="dk1">
                  <a:tint val="75000"/>
                </a:schemeClr>
              </a:solidFill>
              <a:effectLst/>
              <a:uFillTx/>
              <a:latin typeface="Calibri"/>
            </a:endParaRPr>
          </a:p>
        </p:txBody>
      </p:sp>
      <p:pic>
        <p:nvPicPr>
          <p:cNvPr id="70" name="Image 69"/>
          <p:cNvPicPr/>
          <p:nvPr/>
        </p:nvPicPr>
        <p:blipFill>
          <a:blip r:embed="rId2"/>
          <a:stretch/>
        </p:blipFill>
        <p:spPr>
          <a:xfrm>
            <a:off x="399960" y="768780"/>
            <a:ext cx="7703640" cy="5777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Pourquoi cette présentation</a:t>
            </a:r>
            <a:endParaRPr lang="en-US" sz="4400" b="0" u="none" strike="noStrike">
              <a:solidFill>
                <a:schemeClr val="dk1"/>
              </a:solidFill>
              <a:effectLst/>
              <a:uFillTx/>
              <a:latin typeface="Calibri"/>
            </a:endParaRPr>
          </a:p>
        </p:txBody>
      </p:sp>
      <p:sp>
        <p:nvSpPr>
          <p:cNvPr id="72" name="PlaceHolder 2"/>
          <p:cNvSpPr>
            <a:spLocks noGrp="1"/>
          </p:cNvSpPr>
          <p:nvPr>
            <p:ph/>
          </p:nvPr>
        </p:nvSpPr>
        <p:spPr>
          <a:xfrm>
            <a:off x="457200" y="1260000"/>
            <a:ext cx="8229240" cy="4865760"/>
          </a:xfrm>
          <a:prstGeom prst="rect">
            <a:avLst/>
          </a:prstGeom>
          <a:noFill/>
          <a:ln w="0">
            <a:noFill/>
          </a:ln>
        </p:spPr>
        <p:txBody>
          <a:bodyPr lIns="91440" tIns="45720" rIns="91440" bIns="45720" anchor="t">
            <a:noAutofit/>
          </a:bodyPr>
          <a:lstStyle/>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Transmettre le savoir-faire</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Favoriser l’autonomie</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Préserver les variétés locales et anciennes </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Permettre l’échange de variétés locales</a:t>
            </a:r>
            <a:endParaRPr lang="en-US" sz="1800" b="0" u="none" strike="noStrike">
              <a:solidFill>
                <a:schemeClr val="dk1"/>
              </a:solidFill>
              <a:effectLst/>
              <a:uFillTx/>
              <a:latin typeface="Calibri"/>
            </a:endParaRPr>
          </a:p>
        </p:txBody>
      </p:sp>
      <p:pic>
        <p:nvPicPr>
          <p:cNvPr id="73" name="Image 72"/>
          <p:cNvPicPr/>
          <p:nvPr/>
        </p:nvPicPr>
        <p:blipFill>
          <a:blip r:embed="rId2"/>
          <a:stretch/>
        </p:blipFill>
        <p:spPr>
          <a:xfrm>
            <a:off x="720000" y="2572920"/>
            <a:ext cx="7740000" cy="42670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C’est quoi greffer ?</a:t>
            </a:r>
            <a:endParaRPr lang="en-US" sz="4400" b="0" u="none" strike="noStrike">
              <a:solidFill>
                <a:schemeClr val="dk1"/>
              </a:solidFill>
              <a:effectLst/>
              <a:uFillTx/>
              <a:latin typeface="Calibri"/>
            </a:endParaRPr>
          </a:p>
        </p:txBody>
      </p:sp>
      <p:sp>
        <p:nvSpPr>
          <p:cNvPr id="75" name="PlaceHolder 2"/>
          <p:cNvSpPr>
            <a:spLocks noGrp="1"/>
          </p:cNvSpPr>
          <p:nvPr>
            <p:ph/>
          </p:nvPr>
        </p:nvSpPr>
        <p:spPr>
          <a:xfrm>
            <a:off x="457200" y="1600200"/>
            <a:ext cx="8229240" cy="4525560"/>
          </a:xfrm>
          <a:prstGeom prst="rect">
            <a:avLst/>
          </a:prstGeom>
          <a:noFill/>
          <a:ln w="0">
            <a:noFill/>
          </a:ln>
        </p:spPr>
        <p:txBody>
          <a:bodyPr lIns="91440" tIns="45720" rIns="91440" bIns="45720" anchor="t">
            <a:noAutofit/>
          </a:bodyPr>
          <a:lstStyle/>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Assembler deux plantes en une seule</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Greffon + porte-greffe</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La plus ancienne mention écrite connue date d'environ 424 av. J.-C. en Grèce antique : un texte médical attribué à un disciple d'Hippocrate (</a:t>
            </a:r>
            <a:r>
              <a:rPr lang="fr-FR" sz="1800" b="0" i="1" u="none" strike="noStrike">
                <a:solidFill>
                  <a:schemeClr val="dk1"/>
                </a:solidFill>
                <a:effectLst/>
                <a:uFillTx/>
                <a:latin typeface="Calibri"/>
              </a:rPr>
              <a:t>Sur la nature de l'enfant</a:t>
            </a:r>
            <a:r>
              <a:rPr lang="fr-FR" sz="1800" b="0" u="none" strike="noStrike">
                <a:solidFill>
                  <a:schemeClr val="dk1"/>
                </a:solidFill>
                <a:effectLst/>
                <a:uFillTx/>
                <a:latin typeface="Calibri"/>
              </a:rPr>
              <a:t>) fait référence à la greffe, en indiquant que la technique existait déjà depuis plusieurs siècles.</a:t>
            </a:r>
            <a:endParaRPr lang="en-US" sz="1800" b="0" u="none" strike="noStrike">
              <a:solidFill>
                <a:schemeClr val="dk1"/>
              </a:solidFill>
              <a:effectLst/>
              <a:uFillTx/>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À qui s’adresse la greffe</a:t>
            </a:r>
            <a:endParaRPr lang="en-US" sz="4400" b="0" u="none" strike="noStrike">
              <a:solidFill>
                <a:schemeClr val="dk1"/>
              </a:solidFill>
              <a:effectLst/>
              <a:uFillTx/>
              <a:latin typeface="Calibri"/>
            </a:endParaRPr>
          </a:p>
        </p:txBody>
      </p:sp>
      <p:sp>
        <p:nvSpPr>
          <p:cNvPr id="77" name="PlaceHolder 2"/>
          <p:cNvSpPr>
            <a:spLocks noGrp="1"/>
          </p:cNvSpPr>
          <p:nvPr>
            <p:ph/>
          </p:nvPr>
        </p:nvSpPr>
        <p:spPr>
          <a:xfrm>
            <a:off x="230760" y="1440000"/>
            <a:ext cx="8229240" cy="4525560"/>
          </a:xfrm>
          <a:prstGeom prst="rect">
            <a:avLst/>
          </a:prstGeom>
          <a:noFill/>
          <a:ln w="0">
            <a:noFill/>
          </a:ln>
        </p:spPr>
        <p:txBody>
          <a:bodyPr lIns="91440" tIns="45720" rIns="91440" bIns="45720" anchor="t">
            <a:noAutofit/>
          </a:bodyPr>
          <a:lstStyle/>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Jardiniers amateurs</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Vergers familiaux</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Associations ou conservatoires</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Greffer est un acte simple, à la portée de tous</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 Avant les livres : des gamins qui s’ennuient en gardant les troupeaux frottent deux branches… Elles se soudent naturellement… et inventent la greffe en approche sans le savoir ! Un vrai jeu d’enfant. 🌱 » </a:t>
            </a:r>
            <a:endParaRPr lang="en-US" sz="1800" b="0" u="none" strike="noStrike">
              <a:solidFill>
                <a:schemeClr val="dk1"/>
              </a:solidFill>
              <a:effectLst/>
              <a:uFillTx/>
              <a:latin typeface="Calibri"/>
            </a:endParaRPr>
          </a:p>
        </p:txBody>
      </p:sp>
      <p:pic>
        <p:nvPicPr>
          <p:cNvPr id="78" name="Image 77"/>
          <p:cNvPicPr/>
          <p:nvPr/>
        </p:nvPicPr>
        <p:blipFill>
          <a:blip r:embed="rId2"/>
          <a:stretch/>
        </p:blipFill>
        <p:spPr>
          <a:xfrm>
            <a:off x="7140240" y="4140000"/>
            <a:ext cx="1679760" cy="2520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Avantages de la greffe</a:t>
            </a:r>
            <a:endParaRPr lang="en-US" sz="4400" b="0" u="none" strike="noStrike">
              <a:solidFill>
                <a:schemeClr val="dk1"/>
              </a:solidFill>
              <a:effectLst/>
              <a:uFillTx/>
              <a:latin typeface="Calibri"/>
            </a:endParaRPr>
          </a:p>
        </p:txBody>
      </p:sp>
      <p:sp>
        <p:nvSpPr>
          <p:cNvPr id="80" name="PlaceHolder 2"/>
          <p:cNvSpPr>
            <a:spLocks noGrp="1"/>
          </p:cNvSpPr>
          <p:nvPr>
            <p:ph/>
          </p:nvPr>
        </p:nvSpPr>
        <p:spPr>
          <a:xfrm>
            <a:off x="457200" y="1600200"/>
            <a:ext cx="8229240" cy="4525560"/>
          </a:xfrm>
          <a:prstGeom prst="rect">
            <a:avLst/>
          </a:prstGeom>
          <a:noFill/>
          <a:ln w="0">
            <a:noFill/>
          </a:ln>
        </p:spPr>
        <p:txBody>
          <a:bodyPr lIns="91440" tIns="45720" rIns="91440" bIns="45720" anchor="t">
            <a:noAutofit/>
          </a:bodyPr>
          <a:lstStyle/>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Fidélité à la variété</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Obtenir un arbre bien adapté au sol</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Mise à fruit plus rapide</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Apporter une meilleure résistance aux attaques de ravageurs et aux maladies </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Obtenir un arbre fruitier très vigoureux grâce à un porte-greffe franc ou, au contraire, un arbre plus petit grâce à un porte-greffe nanifiant ;</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Obtenir une mise à fruit plus rapide (pour le pommier : 1 à 3 ans après la greffe contre 10 à 15 ans pour un pépin)</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Améliorer la qualité des fruits et une meilleure fertilité.</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Court-circuiter la pollinisation croisée naturelle en greffant un sujet mâle et un sujet femelle (dans le cas des espèces dioïques) sur le même porte-greffe ou des greffons de variétés différentes.</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Arbres "pas cher " ( 2euros) contre 20euros à....</a:t>
            </a:r>
            <a:endParaRPr lang="en-US" sz="1800" b="0" u="none" strike="noStrike">
              <a:solidFill>
                <a:schemeClr val="dk1"/>
              </a:solidFill>
              <a:effectLst/>
              <a:uFillTx/>
              <a:latin typeface="Calibri"/>
            </a:endParaRPr>
          </a:p>
          <a:p>
            <a:pPr marL="343080" indent="0" defTabSz="457200">
              <a:lnSpc>
                <a:spcPct val="100000"/>
              </a:lnSpc>
              <a:spcBef>
                <a:spcPts val="360"/>
              </a:spcBef>
              <a:buNone/>
            </a:pPr>
            <a:endParaRPr lang="en-US" sz="1800" b="0" u="none" strike="noStrike">
              <a:solidFill>
                <a:schemeClr val="dk1"/>
              </a:solidFill>
              <a:effectLst/>
              <a:uFillTx/>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457200" y="274680"/>
            <a:ext cx="836280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Inconvénients de la greffe et inconvénients de semer (franc)</a:t>
            </a:r>
            <a:endParaRPr lang="en-US" sz="4400" b="0" u="none" strike="noStrike">
              <a:solidFill>
                <a:schemeClr val="dk1"/>
              </a:solidFill>
              <a:effectLst/>
              <a:uFillTx/>
              <a:latin typeface="Calibri"/>
            </a:endParaRPr>
          </a:p>
        </p:txBody>
      </p:sp>
      <p:sp>
        <p:nvSpPr>
          <p:cNvPr id="82" name="PlaceHolder 2"/>
          <p:cNvSpPr>
            <a:spLocks noGrp="1"/>
          </p:cNvSpPr>
          <p:nvPr>
            <p:ph/>
          </p:nvPr>
        </p:nvSpPr>
        <p:spPr>
          <a:xfrm>
            <a:off x="457200" y="1600200"/>
            <a:ext cx="8229240" cy="4525560"/>
          </a:xfrm>
          <a:prstGeom prst="rect">
            <a:avLst/>
          </a:prstGeom>
          <a:noFill/>
          <a:ln w="0">
            <a:noFill/>
          </a:ln>
        </p:spPr>
        <p:txBody>
          <a:bodyPr lIns="91440" tIns="45720" rIns="91440" bIns="45720" anchor="t">
            <a:noAutofit/>
          </a:bodyPr>
          <a:lstStyle/>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La greffe nécessite un peu de matériel et de technique.</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La durée de vie de l'arbre greffé est sensiblement réduite. Pour un pommier issu de semis qui pourrait vivre 100 à 150 ans, ne comptez qu'environ 30 ans pour un pommier greffé voir 10 ans sur du nanifiant.</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Le point de greffe peut se révéler être un point de fragilité. Cette fragilité peut faire casser l'arbre par grand vent ou mauvaise manipulation. Le point de greffe peut également être une porte d'entrée pour les maladies ou les ravageurs.</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Une généralisation de la greffe peut amener à la longue un appauvrissement génétique des arbres (clones)et donc un risque de sensibilité accrue aux maladies et ravageurs.</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Le porte-greffe peut prendre le dessus sur le greffon.</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La graine d'un arbre est une fécondation croisée entre une même espèce. Cette graine donnera un arbre avec des caractéristiques mêlées des deux parents. C'est parfois bien pour obtenir une nouvelle variété, mais ça ne va pas si on souhaite reproduire une variété précise.</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Résultat aléatoire ; Fruits différents ;Temps long avant fructification </a:t>
            </a:r>
            <a:endParaRPr lang="en-US" sz="1800" b="0" u="none" strike="noStrike">
              <a:solidFill>
                <a:schemeClr val="dk1"/>
              </a:solidFill>
              <a:effectLst/>
              <a:uFillTx/>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Cas concrets</a:t>
            </a:r>
            <a:endParaRPr lang="en-US" sz="4400" b="0" u="none" strike="noStrike">
              <a:solidFill>
                <a:schemeClr val="dk1"/>
              </a:solidFill>
              <a:effectLst/>
              <a:uFillTx/>
              <a:latin typeface="Calibri"/>
            </a:endParaRPr>
          </a:p>
        </p:txBody>
      </p:sp>
      <p:sp>
        <p:nvSpPr>
          <p:cNvPr id="84" name="PlaceHolder 2"/>
          <p:cNvSpPr>
            <a:spLocks noGrp="1"/>
          </p:cNvSpPr>
          <p:nvPr>
            <p:ph/>
          </p:nvPr>
        </p:nvSpPr>
        <p:spPr>
          <a:xfrm>
            <a:off x="457200" y="1600200"/>
            <a:ext cx="8229240" cy="4525560"/>
          </a:xfrm>
          <a:prstGeom prst="rect">
            <a:avLst/>
          </a:prstGeom>
          <a:noFill/>
          <a:ln w="0">
            <a:noFill/>
          </a:ln>
        </p:spPr>
        <p:txBody>
          <a:bodyPr lIns="91440" tIns="45720" rIns="91440" bIns="45720" anchor="t">
            <a:noAutofit/>
          </a:bodyPr>
          <a:lstStyle/>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Sauver un vieil arbre</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Multiplier une variété</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Changer de variété</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Adapter des arbres qui n’ont pas le bon sol </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Résistance maladie ( ex : phylloxera vigne, chlorose calcaire...)</a:t>
            </a:r>
            <a:endParaRPr lang="en-US" sz="1800" b="0" u="none" strike="noStrike">
              <a:solidFill>
                <a:schemeClr val="dk1"/>
              </a:solidFill>
              <a:effectLst/>
              <a:uFillTx/>
              <a:latin typeface="Calibri"/>
            </a:endParaRPr>
          </a:p>
          <a:p>
            <a:pPr marL="343080" indent="0" defTabSz="457200">
              <a:lnSpc>
                <a:spcPct val="100000"/>
              </a:lnSpc>
              <a:spcBef>
                <a:spcPts val="360"/>
              </a:spcBef>
              <a:buNone/>
            </a:pPr>
            <a:endParaRPr lang="en-US" sz="1800" b="0" u="none" strike="noStrike">
              <a:solidFill>
                <a:schemeClr val="dk1"/>
              </a:solidFill>
              <a:effectLst/>
              <a:uFillTx/>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Exemples d’arbres concernés</a:t>
            </a:r>
            <a:endParaRPr lang="en-US" sz="4400" b="0" u="none" strike="noStrike">
              <a:solidFill>
                <a:schemeClr val="dk1"/>
              </a:solidFill>
              <a:effectLst/>
              <a:uFillTx/>
              <a:latin typeface="Calibri"/>
            </a:endParaRPr>
          </a:p>
        </p:txBody>
      </p:sp>
      <p:sp>
        <p:nvSpPr>
          <p:cNvPr id="86" name="PlaceHolder 2"/>
          <p:cNvSpPr>
            <a:spLocks noGrp="1"/>
          </p:cNvSpPr>
          <p:nvPr>
            <p:ph/>
          </p:nvPr>
        </p:nvSpPr>
        <p:spPr>
          <a:xfrm>
            <a:off x="457200" y="1600200"/>
            <a:ext cx="8229240" cy="4525560"/>
          </a:xfrm>
          <a:prstGeom prst="rect">
            <a:avLst/>
          </a:prstGeom>
          <a:noFill/>
          <a:ln w="0">
            <a:noFill/>
          </a:ln>
        </p:spPr>
        <p:txBody>
          <a:bodyPr lIns="91440" tIns="45720" rIns="91440" bIns="45720" anchor="t">
            <a:noAutofit/>
          </a:bodyPr>
          <a:lstStyle/>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Pommiers</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Poiriers</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Pruniers</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Cerisiers</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Olivier</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Agrumes</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Vigne</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Châtaigner</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Ornemental</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Etc...</a:t>
            </a:r>
            <a:endParaRPr lang="en-US" sz="1800" b="0" u="none" strike="noStrike">
              <a:solidFill>
                <a:schemeClr val="dk1"/>
              </a:solidFill>
              <a:effectLst/>
              <a:uFillTx/>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Comment un arbre fonctionne</a:t>
            </a:r>
            <a:endParaRPr lang="en-US" sz="4400" b="0" u="none" strike="noStrike">
              <a:solidFill>
                <a:schemeClr val="dk1"/>
              </a:solidFill>
              <a:effectLst/>
              <a:uFillTx/>
              <a:latin typeface="Calibri"/>
            </a:endParaRPr>
          </a:p>
        </p:txBody>
      </p:sp>
      <p:pic>
        <p:nvPicPr>
          <p:cNvPr id="88" name="Image 87"/>
          <p:cNvPicPr/>
          <p:nvPr/>
        </p:nvPicPr>
        <p:blipFill>
          <a:blip r:embed="rId2"/>
          <a:stretch/>
        </p:blipFill>
        <p:spPr>
          <a:xfrm>
            <a:off x="0" y="1080000"/>
            <a:ext cx="5670720" cy="3780000"/>
          </a:xfrm>
          <a:prstGeom prst="rect">
            <a:avLst/>
          </a:prstGeom>
        </p:spPr>
      </p:pic>
      <p:pic>
        <p:nvPicPr>
          <p:cNvPr id="89" name="Image 88"/>
          <p:cNvPicPr/>
          <p:nvPr/>
        </p:nvPicPr>
        <p:blipFill>
          <a:blip r:embed="rId3"/>
          <a:stretch/>
        </p:blipFill>
        <p:spPr>
          <a:xfrm>
            <a:off x="5040000" y="2340000"/>
            <a:ext cx="3693960" cy="41626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Le cambium</a:t>
            </a:r>
            <a:endParaRPr lang="en-US" sz="4400" b="0" u="none" strike="noStrike">
              <a:solidFill>
                <a:schemeClr val="dk1"/>
              </a:solidFill>
              <a:effectLst/>
              <a:uFillTx/>
              <a:latin typeface="Calibri"/>
            </a:endParaRPr>
          </a:p>
        </p:txBody>
      </p:sp>
      <p:sp>
        <p:nvSpPr>
          <p:cNvPr id="91" name="PlaceHolder 2"/>
          <p:cNvSpPr>
            <a:spLocks noGrp="1"/>
          </p:cNvSpPr>
          <p:nvPr>
            <p:ph/>
          </p:nvPr>
        </p:nvSpPr>
        <p:spPr>
          <a:xfrm>
            <a:off x="457200" y="1260000"/>
            <a:ext cx="8229240" cy="4525560"/>
          </a:xfrm>
          <a:prstGeom prst="rect">
            <a:avLst/>
          </a:prstGeom>
          <a:noFill/>
          <a:ln w="0">
            <a:noFill/>
          </a:ln>
        </p:spPr>
        <p:txBody>
          <a:bodyPr lIns="91440" tIns="45720" rIns="91440" bIns="45720" anchor="t">
            <a:noAutofit/>
          </a:bodyPr>
          <a:lstStyle/>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Fine couche vivante</a:t>
            </a:r>
            <a:endParaRPr lang="en-US" sz="1800" b="0" u="none" strike="noStrike">
              <a:solidFill>
                <a:schemeClr val="dk1"/>
              </a:solidFill>
              <a:effectLst/>
              <a:uFillTx/>
              <a:latin typeface="Calibri"/>
            </a:endParaRPr>
          </a:p>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Doit être en contact avec le greffon</a:t>
            </a:r>
            <a:endParaRPr lang="en-US" sz="1800" b="0" u="none" strike="noStrike">
              <a:solidFill>
                <a:schemeClr val="dk1"/>
              </a:solidFill>
              <a:effectLst/>
              <a:uFillTx/>
              <a:latin typeface="Calibri"/>
            </a:endParaRPr>
          </a:p>
        </p:txBody>
      </p:sp>
      <p:pic>
        <p:nvPicPr>
          <p:cNvPr id="92" name="Image 91"/>
          <p:cNvPicPr/>
          <p:nvPr/>
        </p:nvPicPr>
        <p:blipFill>
          <a:blip r:embed="rId2"/>
          <a:stretch/>
        </p:blipFill>
        <p:spPr>
          <a:xfrm>
            <a:off x="6097320" y="1980000"/>
            <a:ext cx="3082680" cy="2836080"/>
          </a:xfrm>
          <a:prstGeom prst="rect">
            <a:avLst/>
          </a:prstGeom>
        </p:spPr>
      </p:pic>
      <p:pic>
        <p:nvPicPr>
          <p:cNvPr id="93" name="Image 92"/>
          <p:cNvPicPr/>
          <p:nvPr/>
        </p:nvPicPr>
        <p:blipFill>
          <a:blip r:embed="rId3"/>
          <a:stretch/>
        </p:blipFill>
        <p:spPr>
          <a:xfrm>
            <a:off x="4320000" y="4860000"/>
            <a:ext cx="4762080" cy="1819080"/>
          </a:xfrm>
          <a:prstGeom prst="rect">
            <a:avLst/>
          </a:prstGeom>
        </p:spPr>
      </p:pic>
      <p:pic>
        <p:nvPicPr>
          <p:cNvPr id="94" name="Image 93"/>
          <p:cNvPicPr/>
          <p:nvPr/>
        </p:nvPicPr>
        <p:blipFill>
          <a:blip r:embed="rId4"/>
          <a:stretch/>
        </p:blipFill>
        <p:spPr>
          <a:xfrm>
            <a:off x="330480" y="2019960"/>
            <a:ext cx="3809520" cy="32000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11736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Porte-greffe</a:t>
            </a:r>
            <a:endParaRPr lang="en-US" sz="4400" b="0" u="none" strike="noStrike">
              <a:solidFill>
                <a:schemeClr val="dk1"/>
              </a:solidFill>
              <a:effectLst/>
              <a:uFillTx/>
              <a:latin typeface="Calibri"/>
            </a:endParaRPr>
          </a:p>
        </p:txBody>
      </p:sp>
      <p:sp>
        <p:nvSpPr>
          <p:cNvPr id="96" name="PlaceHolder 2"/>
          <p:cNvSpPr>
            <a:spLocks noGrp="1"/>
          </p:cNvSpPr>
          <p:nvPr>
            <p:ph/>
          </p:nvPr>
        </p:nvSpPr>
        <p:spPr>
          <a:xfrm>
            <a:off x="230760" y="1080000"/>
            <a:ext cx="8229240" cy="5245560"/>
          </a:xfrm>
          <a:prstGeom prst="rect">
            <a:avLst/>
          </a:prstGeom>
          <a:noFill/>
          <a:ln w="0">
            <a:noFill/>
          </a:ln>
        </p:spPr>
        <p:txBody>
          <a:bodyPr lIns="91440" tIns="45720" rIns="91440" bIns="45720" anchor="t">
            <a:noAutofit/>
          </a:bodyPr>
          <a:lstStyle/>
          <a:p>
            <a:pPr marL="343080" indent="-343080" defTabSz="457200">
              <a:lnSpc>
                <a:spcPct val="100000"/>
              </a:lnSpc>
              <a:spcBef>
                <a:spcPts val="1191"/>
              </a:spcBef>
              <a:spcAft>
                <a:spcPts val="992"/>
              </a:spcAft>
              <a:buClr>
                <a:srgbClr val="000000"/>
              </a:buClr>
              <a:buFont typeface="Arial"/>
              <a:buChar char="•"/>
            </a:pPr>
            <a:r>
              <a:rPr lang="fr-FR" sz="1300" b="0" u="none" strike="noStrike">
                <a:solidFill>
                  <a:schemeClr val="dk1"/>
                </a:solidFill>
                <a:effectLst/>
                <a:uFillTx/>
                <a:latin typeface="Calibri"/>
              </a:rPr>
              <a:t>Définition :   Jeune arbre ou arbuste utilisé pour fournir son système racinaire au greffon.</a:t>
            </a:r>
            <a:endParaRPr lang="en-US" sz="13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300" b="0" u="none" strike="noStrike">
                <a:solidFill>
                  <a:schemeClr val="dk1"/>
                </a:solidFill>
                <a:effectLst/>
                <a:uFillTx/>
                <a:latin typeface="Calibri"/>
              </a:rPr>
              <a:t>Rôle :</a:t>
            </a:r>
            <a:endParaRPr lang="en-US" sz="13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050" b="0" u="none" strike="noStrike">
                <a:solidFill>
                  <a:schemeClr val="dk1"/>
                </a:solidFill>
                <a:effectLst/>
                <a:uFillTx/>
                <a:latin typeface="Calibri"/>
              </a:rPr>
              <a:t>Fournit eau, nutriments et soutien au greffon</a:t>
            </a:r>
            <a:endParaRPr lang="en-US" sz="105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050" b="0" u="none" strike="noStrike">
                <a:solidFill>
                  <a:schemeClr val="dk1"/>
                </a:solidFill>
                <a:effectLst/>
                <a:uFillTx/>
                <a:latin typeface="Calibri"/>
              </a:rPr>
              <a:t>Adapte la variété au type de sol</a:t>
            </a:r>
            <a:endParaRPr lang="en-US" sz="105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050" b="0" u="none" strike="noStrike">
                <a:solidFill>
                  <a:schemeClr val="dk1"/>
                </a:solidFill>
                <a:effectLst/>
                <a:uFillTx/>
                <a:latin typeface="Calibri"/>
              </a:rPr>
              <a:t>Apporte résistance aux maladies, parasites et froid</a:t>
            </a:r>
            <a:endParaRPr lang="en-US" sz="105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050" b="0" u="none" strike="noStrike">
                <a:solidFill>
                  <a:schemeClr val="dk1"/>
                </a:solidFill>
                <a:effectLst/>
                <a:uFillTx/>
                <a:latin typeface="Calibri"/>
              </a:rPr>
              <a:t>Optimise la productivité de l’arbre</a:t>
            </a:r>
            <a:endParaRPr lang="en-US" sz="1050" b="0" u="none" strike="noStrike">
              <a:solidFill>
                <a:schemeClr val="dk1"/>
              </a:solidFill>
              <a:effectLst/>
              <a:uFillTx/>
              <a:latin typeface="Calibri"/>
            </a:endParaRPr>
          </a:p>
          <a:p>
            <a:pPr marL="864000" lvl="1" indent="0" defTabSz="457200">
              <a:spcBef>
                <a:spcPts val="1134"/>
              </a:spcBef>
              <a:buNone/>
            </a:pPr>
            <a:endParaRPr lang="en-US" sz="1300" b="0" u="none" strike="noStrike">
              <a:solidFill>
                <a:schemeClr val="dk1"/>
              </a:solidFill>
              <a:effectLst/>
              <a:uFillTx/>
              <a:latin typeface="Calibri"/>
            </a:endParaRPr>
          </a:p>
          <a:p>
            <a:pPr marL="343080" indent="-343080" defTabSz="457200">
              <a:spcBef>
                <a:spcPts val="1417"/>
              </a:spcBef>
              <a:buClr>
                <a:srgbClr val="000000"/>
              </a:buClr>
              <a:buFont typeface="Arial"/>
              <a:buChar char="•"/>
            </a:pPr>
            <a:r>
              <a:rPr lang="fr-FR" sz="1300" b="0" u="none" strike="noStrike">
                <a:solidFill>
                  <a:schemeClr val="dk1"/>
                </a:solidFill>
                <a:effectLst/>
                <a:uFillTx/>
                <a:latin typeface="Calibri"/>
              </a:rPr>
              <a:t>Critères de choix :</a:t>
            </a:r>
            <a:endParaRPr lang="en-US" sz="13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050" b="0" u="none" strike="noStrike">
                <a:solidFill>
                  <a:schemeClr val="dk1"/>
                </a:solidFill>
                <a:effectLst/>
                <a:uFillTx/>
                <a:latin typeface="Calibri"/>
              </a:rPr>
              <a:t>Compatibilité avec le greffon</a:t>
            </a:r>
            <a:endParaRPr lang="en-US" sz="105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050" b="0" u="none" strike="noStrike">
                <a:solidFill>
                  <a:schemeClr val="dk1"/>
                </a:solidFill>
                <a:effectLst/>
                <a:uFillTx/>
                <a:latin typeface="Calibri"/>
              </a:rPr>
              <a:t>Nature et vigueur du porte-greffe</a:t>
            </a:r>
            <a:endParaRPr lang="en-US" sz="105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050" b="0" u="none" strike="noStrike">
                <a:solidFill>
                  <a:schemeClr val="dk1"/>
                </a:solidFill>
                <a:effectLst/>
                <a:uFillTx/>
                <a:latin typeface="Calibri"/>
              </a:rPr>
              <a:t>Forme finale de l’arbre et adaptation au sol</a:t>
            </a:r>
            <a:endParaRPr lang="en-US" sz="105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050" b="0" u="none" strike="noStrike">
                <a:solidFill>
                  <a:schemeClr val="dk1"/>
                </a:solidFill>
                <a:effectLst/>
                <a:uFillTx/>
                <a:latin typeface="Calibri"/>
              </a:rPr>
              <a:t>Résistance maladies/froid et productivité</a:t>
            </a:r>
            <a:endParaRPr lang="en-US" sz="1050" b="0" u="none" strike="noStrike">
              <a:solidFill>
                <a:schemeClr val="dk1"/>
              </a:solidFill>
              <a:effectLst/>
              <a:uFillTx/>
              <a:latin typeface="Calibri"/>
            </a:endParaRPr>
          </a:p>
          <a:p>
            <a:pPr marL="864000" lvl="1" indent="0" defTabSz="457200">
              <a:spcBef>
                <a:spcPts val="1134"/>
              </a:spcBef>
              <a:buNone/>
            </a:pPr>
            <a:endParaRPr lang="en-US" sz="105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300" b="0" u="none" strike="noStrike">
                <a:solidFill>
                  <a:schemeClr val="dk1"/>
                </a:solidFill>
                <a:effectLst/>
                <a:uFillTx/>
                <a:latin typeface="Calibri"/>
              </a:rPr>
              <a:t>Résumé :</a:t>
            </a:r>
            <a:endParaRPr lang="en-US" sz="13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050" b="0" u="none" strike="noStrike">
                <a:solidFill>
                  <a:schemeClr val="dk1"/>
                </a:solidFill>
                <a:effectLst/>
                <a:uFillTx/>
                <a:latin typeface="Calibri"/>
              </a:rPr>
              <a:t>Essentiel pour la croissance, la résistance et la productivité de l’arbre greffé.</a:t>
            </a:r>
            <a:endParaRPr lang="en-US" sz="1050" b="0" u="none" strike="noStrike">
              <a:solidFill>
                <a:schemeClr val="dk1"/>
              </a:solidFill>
              <a:effectLst/>
              <a:uFillTx/>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Greffon</a:t>
            </a:r>
            <a:endParaRPr lang="en-US" sz="4400" b="0" u="none" strike="noStrike">
              <a:solidFill>
                <a:schemeClr val="dk1"/>
              </a:solidFill>
              <a:effectLst/>
              <a:uFillTx/>
              <a:latin typeface="Calibri"/>
            </a:endParaRPr>
          </a:p>
        </p:txBody>
      </p:sp>
      <p:pic>
        <p:nvPicPr>
          <p:cNvPr id="98" name="Image 97"/>
          <p:cNvPicPr/>
          <p:nvPr/>
        </p:nvPicPr>
        <p:blipFill>
          <a:blip r:embed="rId2"/>
          <a:stretch/>
        </p:blipFill>
        <p:spPr>
          <a:xfrm>
            <a:off x="6840000" y="180000"/>
            <a:ext cx="1980000" cy="1320120"/>
          </a:xfrm>
          <a:prstGeom prst="rect">
            <a:avLst/>
          </a:prstGeom>
        </p:spPr>
      </p:pic>
      <p:sp>
        <p:nvSpPr>
          <p:cNvPr id="99" name="PlaceHolder 2"/>
          <p:cNvSpPr>
            <a:spLocks noGrp="1"/>
          </p:cNvSpPr>
          <p:nvPr>
            <p:ph/>
          </p:nvPr>
        </p:nvSpPr>
        <p:spPr>
          <a:xfrm>
            <a:off x="590760" y="1080000"/>
            <a:ext cx="8229240" cy="4525560"/>
          </a:xfrm>
          <a:prstGeom prst="rect">
            <a:avLst/>
          </a:prstGeom>
          <a:noFill/>
          <a:ln w="0">
            <a:noFill/>
          </a:ln>
        </p:spPr>
        <p:txBody>
          <a:bodyPr lIns="91440" tIns="45720" rIns="91440" bIns="45720" anchor="t">
            <a:noAutofit/>
          </a:bodyPr>
          <a:lstStyle/>
          <a:p>
            <a:pPr marL="343080" indent="0" defTabSz="457200">
              <a:lnSpc>
                <a:spcPct val="100000"/>
              </a:lnSpc>
              <a:spcBef>
                <a:spcPts val="1191"/>
              </a:spcBef>
              <a:spcAft>
                <a:spcPts val="992"/>
              </a:spcAft>
              <a:buNone/>
            </a:pPr>
            <a:r>
              <a:rPr lang="fr-FR" sz="1300" b="0" u="none" strike="noStrike">
                <a:solidFill>
                  <a:schemeClr val="dk1"/>
                </a:solidFill>
                <a:effectLst/>
                <a:uFillTx/>
                <a:latin typeface="Calibri"/>
              </a:rPr>
              <a:t>Le bois de l’année (ou "Rameau d'un an")</a:t>
            </a:r>
            <a:endParaRPr lang="en-US" sz="13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300" b="0" u="none" strike="noStrike">
                <a:solidFill>
                  <a:schemeClr val="dk1"/>
                </a:solidFill>
                <a:effectLst/>
                <a:uFillTx/>
                <a:latin typeface="Calibri"/>
              </a:rPr>
              <a:t>Identification : Il s'agit de la pousse qui a grandi lors de la dernière saison de végétation. On la reconnaît à son écorce plus lisse, plus brillante et souvent plus claire que le bois plus ancien.</a:t>
            </a:r>
            <a:endParaRPr lang="en-US" sz="13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300" b="0" u="none" strike="noStrike">
                <a:solidFill>
                  <a:schemeClr val="dk1"/>
                </a:solidFill>
                <a:effectLst/>
                <a:uFillTx/>
                <a:latin typeface="Calibri"/>
              </a:rPr>
              <a:t>Vigueur : On choisit un rameau de la taille d'un crayon (environ 8-12 mm). Il doit être sain, vigoureux et avoir bien profité du soleil (éviter les gourmands qui poussent au centre de l'arbre à l'ombre).</a:t>
            </a:r>
            <a:endParaRPr lang="en-US" sz="13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300" b="0" u="none" strike="noStrike">
                <a:solidFill>
                  <a:schemeClr val="dk1"/>
                </a:solidFill>
                <a:effectLst/>
                <a:uFillTx/>
                <a:latin typeface="Calibri"/>
              </a:rPr>
              <a:t>Pourquoi ? C’est dans le bois jeune que les cellules du cambium sont les plus actives. Un bois trop vieux (2 ans ou plus) cicatrisera beaucoup moins bien, voire pas du tout.</a:t>
            </a:r>
            <a:endParaRPr lang="en-US" sz="13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300" b="0" u="none" strike="noStrike">
                <a:solidFill>
                  <a:schemeClr val="dk1"/>
                </a:solidFill>
                <a:effectLst/>
                <a:uFillTx/>
                <a:latin typeface="Calibri"/>
              </a:rPr>
              <a:t> Bourgeons dormants</a:t>
            </a:r>
            <a:endParaRPr lang="en-US" sz="13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300" b="0" u="none" strike="noStrike">
                <a:solidFill>
                  <a:schemeClr val="dk1"/>
                </a:solidFill>
                <a:effectLst/>
                <a:uFillTx/>
                <a:latin typeface="Calibri"/>
              </a:rPr>
              <a:t>C'est l'état indispensable pour réussir la soudure avant que les feuilles ne sortent.</a:t>
            </a:r>
            <a:endParaRPr lang="en-US" sz="13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300" b="0" u="none" strike="noStrike">
                <a:solidFill>
                  <a:schemeClr val="dk1"/>
                </a:solidFill>
                <a:effectLst/>
                <a:uFillTx/>
                <a:latin typeface="Calibri"/>
              </a:rPr>
              <a:t>État de dormance : Le greffon doit être prélevé en plein hiver (décembre à février selon l'espèce) pendant que l'arbre "dort" complètement.</a:t>
            </a:r>
            <a:endParaRPr lang="en-US" sz="13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300" b="0" u="none" strike="noStrike">
                <a:solidFill>
                  <a:schemeClr val="dk1"/>
                </a:solidFill>
                <a:effectLst/>
                <a:uFillTx/>
                <a:latin typeface="Calibri"/>
              </a:rPr>
              <a:t>Le principe du décalage : Le but est que le porte-greffe soit en train de se réveiller (sève montante) alors que le greffon est encore endormi.</a:t>
            </a:r>
            <a:endParaRPr lang="en-US" sz="13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300" b="0" u="none" strike="noStrike">
                <a:solidFill>
                  <a:schemeClr val="dk1"/>
                </a:solidFill>
                <a:effectLst/>
                <a:uFillTx/>
                <a:latin typeface="Calibri"/>
              </a:rPr>
              <a:t>La conservation : On les garde au frais (2°C dans le bac à légumes ou au nord) pour stopper leur développement. Si le bourgeon commence à s'ouvrir (débourrement) avant que la soudure ne soit faite, le greffon va s'épuiser et mourir par évaporation.</a:t>
            </a:r>
            <a:endParaRPr lang="en-US" sz="1300" b="0" u="none" strike="noStrike">
              <a:solidFill>
                <a:schemeClr val="dk1"/>
              </a:solidFill>
              <a:effectLst/>
              <a:uFillTx/>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Compatibilité</a:t>
            </a:r>
            <a:endParaRPr lang="en-US" sz="4400" b="0" u="none" strike="noStrike">
              <a:solidFill>
                <a:schemeClr val="dk1"/>
              </a:solidFill>
              <a:effectLst/>
              <a:uFillTx/>
              <a:latin typeface="Calibri"/>
            </a:endParaRPr>
          </a:p>
        </p:txBody>
      </p:sp>
      <p:sp>
        <p:nvSpPr>
          <p:cNvPr id="101" name="PlaceHolder 2"/>
          <p:cNvSpPr>
            <a:spLocks noGrp="1"/>
          </p:cNvSpPr>
          <p:nvPr>
            <p:ph/>
          </p:nvPr>
        </p:nvSpPr>
        <p:spPr>
          <a:xfrm>
            <a:off x="457200" y="1600200"/>
            <a:ext cx="8229240" cy="4525560"/>
          </a:xfrm>
          <a:prstGeom prst="rect">
            <a:avLst/>
          </a:prstGeom>
          <a:noFill/>
          <a:ln w="0">
            <a:noFill/>
          </a:ln>
        </p:spPr>
        <p:txBody>
          <a:bodyPr lIns="91440" tIns="45720" rIns="91440" bIns="45720" anchor="t">
            <a:noAutofit/>
          </a:bodyPr>
          <a:lstStyle/>
          <a:p>
            <a:pPr marL="343080" indent="-343080" defTabSz="457200">
              <a:lnSpc>
                <a:spcPct val="100000"/>
              </a:lnSpc>
              <a:spcBef>
                <a:spcPts val="1191"/>
              </a:spcBef>
              <a:spcAft>
                <a:spcPts val="992"/>
              </a:spcAft>
              <a:buClr>
                <a:srgbClr val="000000"/>
              </a:buClr>
              <a:buFont typeface="Arial"/>
              <a:buChar char="•"/>
            </a:pPr>
            <a:r>
              <a:rPr lang="fr-FR" sz="1300" b="0" u="none" strike="noStrike">
                <a:solidFill>
                  <a:schemeClr val="dk1"/>
                </a:solidFill>
                <a:effectLst/>
                <a:uFillTx/>
                <a:latin typeface="Calibri"/>
              </a:rPr>
              <a:t>Même espèce ou famille :</a:t>
            </a:r>
            <a:endParaRPr lang="en-US" sz="13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300" b="0" u="none" strike="noStrike">
                <a:solidFill>
                  <a:schemeClr val="dk1"/>
                </a:solidFill>
                <a:effectLst/>
                <a:uFillTx/>
                <a:latin typeface="Calibri"/>
              </a:rPr>
              <a:t>Pour que la greffe prenne, le porte-greffe doit être génétiquement proche du greffon.</a:t>
            </a:r>
            <a:endParaRPr lang="en-US" sz="13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300" b="0" u="none" strike="noStrike">
                <a:solidFill>
                  <a:schemeClr val="dk1"/>
                </a:solidFill>
                <a:effectLst/>
                <a:uFillTx/>
                <a:latin typeface="Calibri"/>
              </a:rPr>
              <a:t>Idéal : même espèce (ex. pomme sur pomme) ou même famille botanique si pas possible.</a:t>
            </a:r>
            <a:endParaRPr lang="en-US" sz="13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300" b="0" u="none" strike="noStrike">
                <a:solidFill>
                  <a:schemeClr val="dk1"/>
                </a:solidFill>
                <a:effectLst/>
                <a:uFillTx/>
                <a:latin typeface="Calibri"/>
              </a:rPr>
              <a:t>Exemples :</a:t>
            </a:r>
            <a:endParaRPr lang="en-US" sz="13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300" b="0" u="none" strike="noStrike">
                <a:solidFill>
                  <a:schemeClr val="dk1"/>
                </a:solidFill>
                <a:effectLst/>
                <a:uFillTx/>
                <a:latin typeface="Calibri"/>
              </a:rPr>
              <a:t>Compatibles : Pommiers × Pommiers /Poiriers × Poiriers</a:t>
            </a:r>
            <a:endParaRPr lang="en-US" sz="13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300" b="0" u="none" strike="noStrike">
                <a:solidFill>
                  <a:schemeClr val="dk1"/>
                </a:solidFill>
                <a:effectLst/>
                <a:uFillTx/>
                <a:latin typeface="Calibri"/>
              </a:rPr>
              <a:t>Incompatibles : Pommiers × Cerisiers / Poiriers × Pruniers</a:t>
            </a:r>
            <a:endParaRPr lang="en-US" sz="13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300" b="0" u="none" strike="noStrike">
                <a:solidFill>
                  <a:schemeClr val="dk1"/>
                </a:solidFill>
                <a:effectLst/>
                <a:uFillTx/>
                <a:latin typeface="Calibri"/>
              </a:rPr>
              <a:t>Résumé :</a:t>
            </a:r>
            <a:endParaRPr lang="en-US" sz="13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300" b="0" u="none" strike="noStrike">
                <a:solidFill>
                  <a:schemeClr val="dk1"/>
                </a:solidFill>
                <a:effectLst/>
                <a:uFillTx/>
                <a:latin typeface="Calibri"/>
              </a:rPr>
              <a:t>La compatibilité est essentielle pour la survie et la croissance du greffon.</a:t>
            </a:r>
            <a:endParaRPr lang="en-US" sz="13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300" b="0" u="none" strike="noStrike">
                <a:solidFill>
                  <a:schemeClr val="dk1"/>
                </a:solidFill>
                <a:effectLst/>
                <a:uFillTx/>
                <a:latin typeface="Calibri"/>
              </a:rPr>
              <a:t>Une greffe incompatible ne prend pas ou meurt rapidement.</a:t>
            </a:r>
            <a:endParaRPr lang="en-US" sz="13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300" b="0" u="none" strike="noStrike">
                <a:solidFill>
                  <a:schemeClr val="dk1"/>
                </a:solidFill>
                <a:effectLst/>
                <a:uFillTx/>
                <a:latin typeface="Calibri"/>
              </a:rPr>
              <a:t>Comme rien n’est simple, parfois des greffes étranges peuvent exister ( châtaigner sur chêne) </a:t>
            </a:r>
            <a:endParaRPr lang="en-US" sz="1300" b="0" u="none" strike="noStrike">
              <a:solidFill>
                <a:schemeClr val="dk1"/>
              </a:solidFill>
              <a:effectLst/>
              <a:uFillTx/>
              <a:latin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Quand greffer ?</a:t>
            </a:r>
            <a:endParaRPr lang="en-US" sz="4400" b="0" u="none" strike="noStrike">
              <a:solidFill>
                <a:schemeClr val="dk1"/>
              </a:solidFill>
              <a:effectLst/>
              <a:uFillTx/>
              <a:latin typeface="Calibri"/>
            </a:endParaRPr>
          </a:p>
        </p:txBody>
      </p:sp>
      <p:sp>
        <p:nvSpPr>
          <p:cNvPr id="103" name="PlaceHolder 2"/>
          <p:cNvSpPr>
            <a:spLocks noGrp="1"/>
          </p:cNvSpPr>
          <p:nvPr>
            <p:ph/>
          </p:nvPr>
        </p:nvSpPr>
        <p:spPr>
          <a:xfrm>
            <a:off x="457200" y="1600200"/>
            <a:ext cx="8229240" cy="4525560"/>
          </a:xfrm>
          <a:prstGeom prst="rect">
            <a:avLst/>
          </a:prstGeom>
          <a:noFill/>
          <a:ln w="0">
            <a:noFill/>
          </a:ln>
        </p:spPr>
        <p:txBody>
          <a:bodyPr lIns="91440" tIns="45720" rIns="91440" bIns="45720" anchor="t">
            <a:noAutofit/>
          </a:bodyPr>
          <a:lstStyle/>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Périodes selon le type de greffe :</a:t>
            </a:r>
            <a:endParaRPr lang="en-US" sz="18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800" b="0" u="none" strike="noStrike">
                <a:solidFill>
                  <a:schemeClr val="dk1"/>
                </a:solidFill>
                <a:effectLst/>
                <a:uFillTx/>
                <a:latin typeface="Calibri"/>
              </a:rPr>
              <a:t>Greffes à rameau (fente, anglaise, couronne) → fin hiver / début printemps</a:t>
            </a:r>
            <a:endParaRPr lang="en-US" sz="18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800" b="0" u="none" strike="noStrike">
                <a:solidFill>
                  <a:schemeClr val="dk1"/>
                </a:solidFill>
                <a:effectLst/>
                <a:uFillTx/>
                <a:latin typeface="Calibri"/>
              </a:rPr>
              <a:t>Greffes en écusson (bourgeon seul) → été</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Résumé :</a:t>
            </a:r>
            <a:endParaRPr lang="en-US" sz="18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800" b="0" u="none" strike="noStrike">
                <a:solidFill>
                  <a:schemeClr val="dk1"/>
                </a:solidFill>
                <a:effectLst/>
                <a:uFillTx/>
                <a:latin typeface="Calibri"/>
              </a:rPr>
              <a:t>Choisir le moment adapté est crucial pour la réussite de la greffe.</a:t>
            </a:r>
            <a:endParaRPr lang="en-US" sz="18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800" b="0" u="none" strike="noStrike">
                <a:solidFill>
                  <a:schemeClr val="dk1"/>
                </a:solidFill>
                <a:effectLst/>
                <a:uFillTx/>
                <a:latin typeface="Calibri"/>
              </a:rPr>
              <a:t>Observer la sève et l’activité des bourgeons pour ajuster le timing.</a:t>
            </a:r>
            <a:endParaRPr lang="en-US" sz="1800" b="0" u="none" strike="noStrike">
              <a:solidFill>
                <a:schemeClr val="dk1"/>
              </a:solidFill>
              <a:effectLst/>
              <a:uFillTx/>
              <a:latin typeface="Calibri"/>
            </a:endParaRPr>
          </a:p>
          <a:p>
            <a:pPr marL="343080" indent="0" defTabSz="457200">
              <a:lnSpc>
                <a:spcPct val="100000"/>
              </a:lnSpc>
              <a:spcBef>
                <a:spcPts val="1191"/>
              </a:spcBef>
              <a:spcAft>
                <a:spcPts val="992"/>
              </a:spcAft>
              <a:buNone/>
            </a:pPr>
            <a:endParaRPr lang="en-US" sz="1800" b="0" u="none" strike="noStrike">
              <a:solidFill>
                <a:schemeClr val="dk1"/>
              </a:solidFill>
              <a:effectLst/>
              <a:uFillTx/>
              <a:latin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410760" y="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Calendrier simplifié</a:t>
            </a:r>
            <a:endParaRPr lang="en-US" sz="4400" b="0" u="none" strike="noStrike">
              <a:solidFill>
                <a:schemeClr val="dk1"/>
              </a:solidFill>
              <a:effectLst/>
              <a:uFillTx/>
              <a:latin typeface="Calibri"/>
            </a:endParaRPr>
          </a:p>
        </p:txBody>
      </p:sp>
      <p:pic>
        <p:nvPicPr>
          <p:cNvPr id="105" name="Image 104"/>
          <p:cNvPicPr/>
          <p:nvPr/>
        </p:nvPicPr>
        <p:blipFill>
          <a:blip r:embed="rId2"/>
          <a:stretch/>
        </p:blipFill>
        <p:spPr>
          <a:xfrm>
            <a:off x="556920" y="1090440"/>
            <a:ext cx="7723080" cy="57495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dirty="0">
                <a:solidFill>
                  <a:schemeClr val="dk1"/>
                </a:solidFill>
                <a:effectLst/>
                <a:uFillTx/>
                <a:latin typeface="Calibri"/>
              </a:rPr>
              <a:t>Selon les arbres</a:t>
            </a:r>
            <a:endParaRPr lang="en-US" sz="4400" b="0" u="none" strike="noStrike" dirty="0">
              <a:solidFill>
                <a:schemeClr val="dk1"/>
              </a:solidFill>
              <a:effectLst/>
              <a:uFillTx/>
              <a:latin typeface="Calibri"/>
            </a:endParaRPr>
          </a:p>
        </p:txBody>
      </p:sp>
      <p:sp>
        <p:nvSpPr>
          <p:cNvPr id="107" name="PlaceHolder 2"/>
          <p:cNvSpPr>
            <a:spLocks noGrp="1"/>
          </p:cNvSpPr>
          <p:nvPr>
            <p:ph/>
          </p:nvPr>
        </p:nvSpPr>
        <p:spPr>
          <a:xfrm>
            <a:off x="457200" y="1600200"/>
            <a:ext cx="8229240" cy="4525560"/>
          </a:xfrm>
          <a:prstGeom prst="rect">
            <a:avLst/>
          </a:prstGeom>
          <a:noFill/>
          <a:ln w="0">
            <a:noFill/>
          </a:ln>
        </p:spPr>
        <p:txBody>
          <a:bodyPr lIns="91440" tIns="45720" rIns="91440" bIns="45720" anchor="t">
            <a:noAutofit/>
          </a:bodyPr>
          <a:lstStyle/>
          <a:p>
            <a:pPr marL="343080" indent="-343080" defTabSz="457200">
              <a:lnSpc>
                <a:spcPct val="100000"/>
              </a:lnSpc>
              <a:spcBef>
                <a:spcPts val="1191"/>
              </a:spcBef>
              <a:spcAft>
                <a:spcPts val="992"/>
              </a:spcAft>
              <a:buClr>
                <a:srgbClr val="000000"/>
              </a:buClr>
              <a:buFont typeface="Arial"/>
              <a:buChar char="•"/>
            </a:pPr>
            <a:r>
              <a:rPr lang="fr-FR" sz="1800" b="0" u="none" strike="noStrike" dirty="0">
                <a:solidFill>
                  <a:schemeClr val="dk1"/>
                </a:solidFill>
                <a:effectLst/>
                <a:uFillTx/>
                <a:latin typeface="Calibri"/>
              </a:rPr>
              <a:t>Greffe à rameau / fente / anglaise :</a:t>
            </a:r>
            <a:endParaRPr lang="en-US" sz="1800" b="0" u="none" strike="noStrike" dirty="0">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800" b="0" u="none" strike="noStrike" dirty="0">
                <a:solidFill>
                  <a:schemeClr val="dk1"/>
                </a:solidFill>
                <a:effectLst/>
                <a:uFillTx/>
                <a:latin typeface="Calibri"/>
              </a:rPr>
              <a:t>Pommiers → mars à avril</a:t>
            </a:r>
            <a:endParaRPr lang="en-US" sz="1800" b="0" u="none" strike="noStrike" dirty="0">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800" b="0" u="none" strike="noStrike" dirty="0">
                <a:solidFill>
                  <a:schemeClr val="dk1"/>
                </a:solidFill>
                <a:effectLst/>
                <a:uFillTx/>
                <a:latin typeface="Calibri"/>
              </a:rPr>
              <a:t>Pruniers → plus précoces, souvent fin février – début mars</a:t>
            </a:r>
            <a:endParaRPr lang="en-US" sz="1800" b="0" u="none" strike="noStrike" dirty="0">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800" b="0" u="none" strike="noStrike" dirty="0">
                <a:solidFill>
                  <a:schemeClr val="dk1"/>
                </a:solidFill>
                <a:effectLst/>
                <a:uFillTx/>
                <a:latin typeface="Calibri"/>
              </a:rPr>
              <a:t>Cerisiers → délicats, greffer dès que le risque de gel est faible</a:t>
            </a:r>
            <a:endParaRPr lang="en-US" sz="1800" b="0" u="none" strike="noStrike" dirty="0">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dirty="0">
                <a:solidFill>
                  <a:schemeClr val="dk1"/>
                </a:solidFill>
                <a:effectLst/>
                <a:uFillTx/>
                <a:latin typeface="Calibri"/>
              </a:rPr>
              <a:t>Greffe en écusson (bourgeon seul) → été, toutes espèces</a:t>
            </a:r>
            <a:endParaRPr lang="en-US" sz="1800" b="0" u="none" strike="noStrike" dirty="0">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dirty="0">
                <a:solidFill>
                  <a:schemeClr val="dk1"/>
                </a:solidFill>
                <a:effectLst/>
                <a:uFillTx/>
                <a:latin typeface="Calibri"/>
              </a:rPr>
              <a:t>Résumé :</a:t>
            </a:r>
            <a:endParaRPr lang="en-US" sz="1800" b="0" u="none" strike="noStrike" dirty="0">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800" b="0" u="none" strike="noStrike" dirty="0">
                <a:solidFill>
                  <a:schemeClr val="dk1"/>
                </a:solidFill>
                <a:effectLst/>
                <a:uFillTx/>
                <a:latin typeface="Calibri"/>
              </a:rPr>
              <a:t>Le moment idéal varie selon l’espèce et le lieu pour assurer la reprise.</a:t>
            </a:r>
            <a:endParaRPr lang="en-US" sz="1800" b="0" u="none" strike="noStrike" dirty="0">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800" b="0" u="none" strike="noStrike" dirty="0">
                <a:solidFill>
                  <a:schemeClr val="dk1"/>
                </a:solidFill>
                <a:effectLst/>
                <a:uFillTx/>
                <a:latin typeface="Calibri"/>
              </a:rPr>
              <a:t>Observer le débourrement et la circulation de la sève est important pour choisir le jour exact.</a:t>
            </a:r>
            <a:endParaRPr lang="en-US" sz="1800" b="0" u="none" strike="noStrike" dirty="0">
              <a:solidFill>
                <a:schemeClr val="dk1"/>
              </a:solidFill>
              <a:effectLst/>
              <a:uFillTx/>
              <a:latin typeface="Calibri"/>
            </a:endParaRPr>
          </a:p>
          <a:p>
            <a:pPr marL="343080" indent="0" defTabSz="457200">
              <a:lnSpc>
                <a:spcPct val="100000"/>
              </a:lnSpc>
              <a:spcBef>
                <a:spcPts val="1191"/>
              </a:spcBef>
              <a:spcAft>
                <a:spcPts val="992"/>
              </a:spcAft>
              <a:buNone/>
            </a:pPr>
            <a:endParaRPr lang="en-US" sz="1800" b="0" u="none" strike="noStrike" dirty="0">
              <a:solidFill>
                <a:schemeClr val="dk1"/>
              </a:solidFill>
              <a:effectLst/>
              <a:uFillTx/>
              <a:latin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B3DDCA4-5E2D-5A9E-BE15-76EE9A396FA7}"/>
              </a:ext>
            </a:extLst>
          </p:cNvPr>
          <p:cNvSpPr>
            <a:spLocks noGrp="1"/>
          </p:cNvSpPr>
          <p:nvPr>
            <p:ph/>
          </p:nvPr>
        </p:nvSpPr>
        <p:spPr>
          <a:xfrm>
            <a:off x="40968" y="1234440"/>
            <a:ext cx="8947584" cy="5870448"/>
          </a:xfrm>
        </p:spPr>
        <p:txBody>
          <a:bodyPr>
            <a:normAutofit/>
          </a:bodyPr>
          <a:lstStyle/>
          <a:p>
            <a:pPr marL="0" indent="0">
              <a:buNone/>
            </a:pPr>
            <a:endParaRPr lang="fr-FR" sz="1800" dirty="0">
              <a:latin typeface="Calibri" panose="020F0502020204030204" pitchFamily="34" charset="0"/>
              <a:ea typeface="Calibri" panose="020F0502020204030204" pitchFamily="34" charset="0"/>
              <a:cs typeface="Calibri" panose="020F0502020204030204" pitchFamily="34" charset="0"/>
            </a:endParaRPr>
          </a:p>
          <a:p>
            <a:r>
              <a:rPr lang="fr-FR" sz="1800" dirty="0">
                <a:latin typeface="Calibri" panose="020F0502020204030204" pitchFamily="34" charset="0"/>
                <a:ea typeface="Calibri" panose="020F0502020204030204" pitchFamily="34" charset="0"/>
                <a:cs typeface="Calibri" panose="020F0502020204030204" pitchFamily="34" charset="0"/>
              </a:rPr>
              <a:t>Diamètres identiques (8 à 12 mm) : La Greffe Anglaise</a:t>
            </a:r>
          </a:p>
          <a:p>
            <a:pPr lvl="1"/>
            <a:r>
              <a:rPr lang="fr-FR" sz="1800" dirty="0">
                <a:latin typeface="Calibri" panose="020F0502020204030204" pitchFamily="34" charset="0"/>
                <a:ea typeface="Calibri" panose="020F0502020204030204" pitchFamily="34" charset="0"/>
                <a:cs typeface="Calibri" panose="020F0502020204030204" pitchFamily="34" charset="0"/>
              </a:rPr>
              <a:t>Le greffon et le porte-greffe ont la même épaisseur.</a:t>
            </a:r>
          </a:p>
          <a:p>
            <a:pPr lvl="1"/>
            <a:r>
              <a:rPr lang="fr-FR" sz="1800" dirty="0">
                <a:latin typeface="Calibri" panose="020F0502020204030204" pitchFamily="34" charset="0"/>
                <a:ea typeface="Calibri" panose="020F0502020204030204" pitchFamily="34" charset="0"/>
                <a:cs typeface="Calibri" panose="020F0502020204030204" pitchFamily="34" charset="0"/>
              </a:rPr>
              <a:t>Contact parfait des cambiums sur toute la longueur du biseau</a:t>
            </a:r>
          </a:p>
          <a:p>
            <a:pPr marL="228600" lvl="1">
              <a:spcBef>
                <a:spcPts val="1000"/>
              </a:spcBef>
            </a:pPr>
            <a:r>
              <a:rPr lang="fr-FR" sz="1800" dirty="0">
                <a:latin typeface="Calibri" panose="020F0502020204030204" pitchFamily="34" charset="0"/>
                <a:ea typeface="Calibri" panose="020F0502020204030204" pitchFamily="34" charset="0"/>
                <a:cs typeface="Calibri" panose="020F0502020204030204" pitchFamily="34" charset="0"/>
              </a:rPr>
              <a:t>Porte-greffe plus large (2 à 5 cm) : La Greffe en Fente</a:t>
            </a:r>
          </a:p>
          <a:p>
            <a:pPr lvl="1"/>
            <a:r>
              <a:rPr lang="fr-FR" sz="1800" dirty="0">
                <a:latin typeface="Calibri" panose="020F0502020204030204" pitchFamily="34" charset="0"/>
                <a:ea typeface="Calibri" panose="020F0502020204030204" pitchFamily="34" charset="0"/>
                <a:cs typeface="Calibri" panose="020F0502020204030204" pitchFamily="34" charset="0"/>
              </a:rPr>
              <a:t>On insère un greffon taillé en coin dans une fente pratiquée sur l'hôte.</a:t>
            </a:r>
          </a:p>
          <a:p>
            <a:pPr lvl="1"/>
            <a:r>
              <a:rPr lang="fr-FR" sz="1800" dirty="0">
                <a:latin typeface="Calibri" panose="020F0502020204030204" pitchFamily="34" charset="0"/>
                <a:ea typeface="Calibri" panose="020F0502020204030204" pitchFamily="34" charset="0"/>
                <a:cs typeface="Calibri" panose="020F0502020204030204" pitchFamily="34" charset="0"/>
              </a:rPr>
              <a:t>Astuce : On aligne les écorces sur un côté pour que les cambiums se touchent.</a:t>
            </a:r>
          </a:p>
          <a:p>
            <a:r>
              <a:rPr lang="fr-FR" sz="1800" dirty="0">
                <a:latin typeface="Calibri" panose="020F0502020204030204" pitchFamily="34" charset="0"/>
                <a:ea typeface="Calibri" panose="020F0502020204030204" pitchFamily="34" charset="0"/>
                <a:cs typeface="Calibri" panose="020F0502020204030204" pitchFamily="34" charset="0"/>
              </a:rPr>
              <a:t>Gros diamètres ou Rénovation (&gt; 5 cm) : La Greffe en Couronne</a:t>
            </a:r>
          </a:p>
          <a:p>
            <a:pPr lvl="1"/>
            <a:r>
              <a:rPr lang="fr-FR" sz="1800" dirty="0">
                <a:latin typeface="Calibri" panose="020F0502020204030204" pitchFamily="34" charset="0"/>
                <a:ea typeface="Calibri" panose="020F0502020204030204" pitchFamily="34" charset="0"/>
                <a:cs typeface="Calibri" panose="020F0502020204030204" pitchFamily="34" charset="0"/>
              </a:rPr>
              <a:t>On glisse les greffons sous l'écorce. Idéal pour transformer un vieil arbre.</a:t>
            </a:r>
          </a:p>
          <a:p>
            <a:r>
              <a:rPr lang="fr-FR" sz="1800" dirty="0">
                <a:latin typeface="Calibri" panose="020F0502020204030204" pitchFamily="34" charset="0"/>
                <a:ea typeface="Calibri" panose="020F0502020204030204" pitchFamily="34" charset="0"/>
                <a:cs typeface="Calibri" panose="020F0502020204030204" pitchFamily="34" charset="0"/>
              </a:rPr>
              <a:t>  Tout diamètre (Printemps ou Été)  . Greffes de bourgeons (Greffes "à l'œil") :</a:t>
            </a:r>
          </a:p>
          <a:p>
            <a:pPr lvl="1"/>
            <a:r>
              <a:rPr lang="fr-FR" sz="1800" dirty="0">
                <a:latin typeface="Calibri" panose="020F0502020204030204" pitchFamily="34" charset="0"/>
                <a:ea typeface="Calibri" panose="020F0502020204030204" pitchFamily="34" charset="0"/>
                <a:cs typeface="Calibri" panose="020F0502020204030204" pitchFamily="34" charset="0"/>
              </a:rPr>
              <a:t>L'Écussonnage : On glisse un bourgeon dans une incision en "T". L'écorce doit obligatoirement "décoller" (arbre en pleine sève). C'est la technique reine en été pour les rosiers et les fruitiers.</a:t>
            </a:r>
          </a:p>
          <a:p>
            <a:pPr lvl="1"/>
            <a:r>
              <a:rPr lang="fr-FR" sz="1800" dirty="0">
                <a:latin typeface="Calibri" panose="020F0502020204030204" pitchFamily="34" charset="0"/>
                <a:ea typeface="Calibri" panose="020F0502020204030204" pitchFamily="34" charset="0"/>
                <a:cs typeface="Calibri" panose="020F0502020204030204" pitchFamily="34" charset="0"/>
              </a:rPr>
              <a:t>Le Chip-</a:t>
            </a:r>
            <a:r>
              <a:rPr lang="fr-FR" sz="1800" dirty="0" err="1">
                <a:latin typeface="Calibri" panose="020F0502020204030204" pitchFamily="34" charset="0"/>
                <a:ea typeface="Calibri" panose="020F0502020204030204" pitchFamily="34" charset="0"/>
                <a:cs typeface="Calibri" panose="020F0502020204030204" pitchFamily="34" charset="0"/>
              </a:rPr>
              <a:t>budding</a:t>
            </a:r>
            <a:r>
              <a:rPr lang="fr-FR" sz="1800" dirty="0">
                <a:latin typeface="Calibri" panose="020F0502020204030204" pitchFamily="34" charset="0"/>
                <a:ea typeface="Calibri" panose="020F0502020204030204" pitchFamily="34" charset="0"/>
                <a:cs typeface="Calibri" panose="020F0502020204030204" pitchFamily="34" charset="0"/>
              </a:rPr>
              <a:t> : On remplace un copeau de bois par un autre contenant le bourgeon. Très efficace même si l'écorce ne décolle pas (printemps ou fin d'été).</a:t>
            </a:r>
          </a:p>
          <a:p>
            <a:endParaRPr lang="fr-FR" sz="1800" dirty="0">
              <a:latin typeface="Calibri" panose="020F0502020204030204" pitchFamily="34" charset="0"/>
              <a:ea typeface="Calibri" panose="020F0502020204030204" pitchFamily="34" charset="0"/>
              <a:cs typeface="Calibri" panose="020F0502020204030204" pitchFamily="34" charset="0"/>
            </a:endParaRPr>
          </a:p>
        </p:txBody>
      </p:sp>
      <p:sp>
        <p:nvSpPr>
          <p:cNvPr id="5" name="ZoneTexte 4">
            <a:extLst>
              <a:ext uri="{FF2B5EF4-FFF2-40B4-BE49-F238E27FC236}">
                <a16:creationId xmlns:a16="http://schemas.microsoft.com/office/drawing/2014/main" id="{CF944CAD-8DBB-2AB0-2A09-1D9FACAFD793}"/>
              </a:ext>
            </a:extLst>
          </p:cNvPr>
          <p:cNvSpPr txBox="1"/>
          <p:nvPr/>
        </p:nvSpPr>
        <p:spPr>
          <a:xfrm>
            <a:off x="40968" y="187379"/>
            <a:ext cx="9061704" cy="769441"/>
          </a:xfrm>
          <a:prstGeom prst="rect">
            <a:avLst/>
          </a:prstGeom>
          <a:noFill/>
        </p:spPr>
        <p:txBody>
          <a:bodyPr wrap="square">
            <a:spAutoFit/>
          </a:bodyPr>
          <a:lstStyle/>
          <a:p>
            <a:pPr marR="0" algn="ctr"/>
            <a:r>
              <a:rPr lang="fr-FR" sz="4400" b="0" i="0" u="none" strike="noStrike" dirty="0">
                <a:solidFill>
                  <a:prstClr val="black"/>
                </a:solidFill>
                <a:latin typeface="Calibri" panose="020F0502020204030204" pitchFamily="34" charset="0"/>
              </a:rPr>
              <a:t>Adapter la technique au diamètre </a:t>
            </a:r>
          </a:p>
        </p:txBody>
      </p:sp>
    </p:spTree>
    <p:extLst>
      <p:ext uri="{BB962C8B-B14F-4D97-AF65-F5344CB8AC3E}">
        <p14:creationId xmlns:p14="http://schemas.microsoft.com/office/powerpoint/2010/main" val="16880165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Signes naturels</a:t>
            </a:r>
            <a:endParaRPr lang="en-US" sz="4400" b="0" u="none" strike="noStrike">
              <a:solidFill>
                <a:schemeClr val="dk1"/>
              </a:solidFill>
              <a:effectLst/>
              <a:uFillTx/>
              <a:latin typeface="Calibri"/>
            </a:endParaRPr>
          </a:p>
        </p:txBody>
      </p:sp>
      <p:sp>
        <p:nvSpPr>
          <p:cNvPr id="109" name="PlaceHolder 2"/>
          <p:cNvSpPr>
            <a:spLocks noGrp="1"/>
          </p:cNvSpPr>
          <p:nvPr>
            <p:ph/>
          </p:nvPr>
        </p:nvSpPr>
        <p:spPr>
          <a:xfrm>
            <a:off x="457200" y="1600200"/>
            <a:ext cx="8229240" cy="4525560"/>
          </a:xfrm>
          <a:prstGeom prst="rect">
            <a:avLst/>
          </a:prstGeom>
          <a:noFill/>
          <a:ln w="0">
            <a:noFill/>
          </a:ln>
        </p:spPr>
        <p:txBody>
          <a:bodyPr lIns="91440" tIns="45720" rIns="91440" bIns="45720" anchor="t">
            <a:noAutofit/>
          </a:bodyPr>
          <a:lstStyle/>
          <a:p>
            <a:pPr marL="343080" indent="-343080" defTabSz="457200">
              <a:lnSpc>
                <a:spcPct val="100000"/>
              </a:lnSpc>
              <a:spcBef>
                <a:spcPts val="1191"/>
              </a:spcBef>
              <a:spcAft>
                <a:spcPts val="992"/>
              </a:spcAft>
              <a:buClr>
                <a:srgbClr val="000000"/>
              </a:buClr>
              <a:buFont typeface="Arial"/>
              <a:buChar char="•"/>
            </a:pPr>
            <a:r>
              <a:rPr lang="fr-FR" sz="1800" b="0" u="none" strike="noStrike" dirty="0">
                <a:solidFill>
                  <a:schemeClr val="dk1"/>
                </a:solidFill>
                <a:effectLst/>
                <a:uFillTx/>
                <a:latin typeface="Calibri"/>
              </a:rPr>
              <a:t>Débourrement :</a:t>
            </a:r>
            <a:endParaRPr lang="en-US" sz="1800" b="0" u="none" strike="noStrike" dirty="0">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800" b="0" u="none" strike="noStrike" dirty="0">
                <a:solidFill>
                  <a:schemeClr val="dk1"/>
                </a:solidFill>
                <a:effectLst/>
                <a:uFillTx/>
                <a:latin typeface="Calibri"/>
              </a:rPr>
              <a:t>Bourgeons qui commencent à gonfler ou à s’ouvrir</a:t>
            </a:r>
            <a:endParaRPr lang="en-US" sz="1800" b="0" u="none" strike="noStrike" dirty="0">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800" b="0" u="none" strike="noStrike" dirty="0">
                <a:solidFill>
                  <a:schemeClr val="dk1"/>
                </a:solidFill>
                <a:effectLst/>
                <a:uFillTx/>
                <a:latin typeface="Calibri"/>
              </a:rPr>
              <a:t>Indique que l’arbre entre en phase active de croissance</a:t>
            </a:r>
            <a:endParaRPr lang="en-US" sz="1800" b="0" u="none" strike="noStrike" dirty="0">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dirty="0">
                <a:solidFill>
                  <a:schemeClr val="dk1"/>
                </a:solidFill>
                <a:effectLst/>
                <a:uFillTx/>
                <a:latin typeface="Calibri"/>
              </a:rPr>
              <a:t>Circulation de sève :</a:t>
            </a:r>
            <a:endParaRPr lang="en-US" sz="1800" b="0" u="none" strike="noStrike" dirty="0">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800" b="0" u="none" strike="noStrike" dirty="0">
                <a:solidFill>
                  <a:schemeClr val="dk1"/>
                </a:solidFill>
                <a:effectLst/>
                <a:uFillTx/>
                <a:latin typeface="Calibri"/>
              </a:rPr>
              <a:t>La sève monte activement dans le xylème</a:t>
            </a:r>
            <a:endParaRPr lang="en-US" sz="1800" b="0" u="none" strike="noStrike" dirty="0">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800" b="0" u="none" strike="noStrike" dirty="0">
                <a:solidFill>
                  <a:schemeClr val="dk1"/>
                </a:solidFill>
                <a:effectLst/>
                <a:uFillTx/>
                <a:latin typeface="Calibri"/>
              </a:rPr>
              <a:t>La sève descend dans le phloème</a:t>
            </a:r>
            <a:endParaRPr lang="en-US" sz="1800" b="0" u="none" strike="noStrike" dirty="0">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800" b="0" u="none" strike="noStrike" dirty="0">
                <a:solidFill>
                  <a:schemeClr val="dk1"/>
                </a:solidFill>
                <a:effectLst/>
                <a:uFillTx/>
                <a:latin typeface="Calibri"/>
              </a:rPr>
              <a:t>Essentiel pour que la greffe prenne et que le greffon survive</a:t>
            </a:r>
            <a:endParaRPr lang="en-US" sz="1800" b="0" u="none" strike="noStrike" dirty="0">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dirty="0">
                <a:solidFill>
                  <a:schemeClr val="dk1"/>
                </a:solidFill>
                <a:effectLst/>
                <a:uFillTx/>
                <a:latin typeface="Calibri"/>
              </a:rPr>
              <a:t>Résumé :</a:t>
            </a:r>
            <a:endParaRPr lang="en-US" sz="1800" b="0" u="none" strike="noStrike" dirty="0">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800" b="0" u="none" strike="noStrike" dirty="0">
                <a:solidFill>
                  <a:schemeClr val="dk1"/>
                </a:solidFill>
                <a:effectLst/>
                <a:uFillTx/>
                <a:latin typeface="Calibri"/>
              </a:rPr>
              <a:t>Observer le débourrement et la sève permet de choisir le meilleur moment pour la greffe.</a:t>
            </a:r>
            <a:endParaRPr lang="en-US" sz="1800" b="0" u="none" strike="noStrike" dirty="0">
              <a:solidFill>
                <a:schemeClr val="dk1"/>
              </a:solidFill>
              <a:effectLst/>
              <a:uFillTx/>
              <a:latin typeface="Calibri"/>
            </a:endParaRPr>
          </a:p>
        </p:txBody>
      </p:sp>
      <p:pic>
        <p:nvPicPr>
          <p:cNvPr id="110" name="Image 109"/>
          <p:cNvPicPr/>
          <p:nvPr/>
        </p:nvPicPr>
        <p:blipFill>
          <a:blip r:embed="rId2"/>
          <a:stretch/>
        </p:blipFill>
        <p:spPr>
          <a:xfrm>
            <a:off x="7020000" y="720000"/>
            <a:ext cx="1800000" cy="1800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360000" y="9180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Outils indispensables</a:t>
            </a:r>
            <a:endParaRPr lang="en-US" sz="4400" b="0" u="none" strike="noStrike">
              <a:solidFill>
                <a:schemeClr val="dk1"/>
              </a:solidFill>
              <a:effectLst/>
              <a:uFillTx/>
              <a:latin typeface="Calibri"/>
            </a:endParaRPr>
          </a:p>
        </p:txBody>
      </p:sp>
      <p:sp>
        <p:nvSpPr>
          <p:cNvPr id="112" name="PlaceHolder 2"/>
          <p:cNvSpPr>
            <a:spLocks noGrp="1"/>
          </p:cNvSpPr>
          <p:nvPr>
            <p:ph/>
          </p:nvPr>
        </p:nvSpPr>
        <p:spPr>
          <a:xfrm>
            <a:off x="360000" y="1260000"/>
            <a:ext cx="8229240" cy="5400000"/>
          </a:xfrm>
          <a:prstGeom prst="rect">
            <a:avLst/>
          </a:prstGeom>
          <a:noFill/>
          <a:ln w="0">
            <a:noFill/>
          </a:ln>
        </p:spPr>
        <p:txBody>
          <a:bodyPr lIns="91440" tIns="45720" rIns="91440" bIns="45720" anchor="t">
            <a:noAutofit/>
          </a:bodyPr>
          <a:lstStyle/>
          <a:p>
            <a:pPr marL="343080" indent="-343080" defTabSz="457200">
              <a:lnSpc>
                <a:spcPct val="100000"/>
              </a:lnSpc>
              <a:spcBef>
                <a:spcPts val="1191"/>
              </a:spcBef>
              <a:spcAft>
                <a:spcPts val="992"/>
              </a:spcAft>
              <a:buClr>
                <a:srgbClr val="000000"/>
              </a:buClr>
              <a:buFont typeface="Arial"/>
              <a:buChar char="•"/>
            </a:pPr>
            <a:r>
              <a:rPr lang="fr-FR" sz="1400" b="0" u="none" strike="noStrike">
                <a:solidFill>
                  <a:schemeClr val="dk1"/>
                </a:solidFill>
                <a:effectLst/>
                <a:uFillTx/>
                <a:latin typeface="Calibri"/>
              </a:rPr>
              <a:t>Greffoir / couteau /un cutter : pour réaliser les coupes nettes sur greffon et porte-greffe</a:t>
            </a:r>
            <a:endParaRPr lang="en-US" sz="14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400" b="0" u="none" strike="noStrike">
                <a:solidFill>
                  <a:schemeClr val="dk1"/>
                </a:solidFill>
                <a:effectLst/>
                <a:uFillTx/>
                <a:latin typeface="Calibri"/>
              </a:rPr>
              <a:t>Sécateur : pour tailler les branches et préparer le matériel</a:t>
            </a:r>
            <a:endParaRPr lang="en-US" sz="14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400" b="0" u="none" strike="noStrike">
                <a:solidFill>
                  <a:schemeClr val="dk1"/>
                </a:solidFill>
                <a:effectLst/>
                <a:uFillTx/>
                <a:latin typeface="Calibri"/>
              </a:rPr>
              <a:t>Scie (si nécessaire) : pour les branches ou troncs plus gros</a:t>
            </a:r>
            <a:endParaRPr lang="en-US" sz="14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400" b="0" u="none" strike="noStrike">
                <a:solidFill>
                  <a:schemeClr val="dk1"/>
                </a:solidFill>
                <a:effectLst/>
                <a:uFillTx/>
                <a:latin typeface="Calibri"/>
              </a:rPr>
              <a:t>Des ligatures : Comme du raphia, des élastiques, du Buddy tape, du scotch électricien, chatterton, du sac plastique.... </a:t>
            </a:r>
            <a:endParaRPr lang="en-US" sz="14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400" b="0" u="none" strike="noStrike">
                <a:solidFill>
                  <a:schemeClr val="dk1"/>
                </a:solidFill>
                <a:effectLst/>
                <a:uFillTx/>
                <a:latin typeface="Calibri"/>
              </a:rPr>
              <a:t>Du désinfectant pour les outils: Comme de l'alcool à brûler, briquet, gel hydroalcoolique, etc.</a:t>
            </a:r>
            <a:endParaRPr lang="en-US" sz="14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400" b="0" u="none" strike="noStrike">
                <a:solidFill>
                  <a:schemeClr val="dk1"/>
                </a:solidFill>
                <a:effectLst/>
                <a:uFillTx/>
                <a:latin typeface="Calibri"/>
              </a:rPr>
              <a:t>Du mastic à greffer ou de l'argile: Pour protéger les plaies après la greffe.</a:t>
            </a:r>
            <a:endParaRPr lang="en-US" sz="14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400" b="0" u="none" strike="noStrike">
                <a:solidFill>
                  <a:schemeClr val="dk1"/>
                </a:solidFill>
                <a:effectLst/>
                <a:uFillTx/>
                <a:latin typeface="Calibri"/>
              </a:rPr>
              <a:t>Du papier aluminium ou des enveloppes matelassées : pour protéger la greffe suivant les périodes.</a:t>
            </a:r>
            <a:endParaRPr lang="en-US" sz="14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400" b="0" u="none" strike="noStrike">
                <a:solidFill>
                  <a:schemeClr val="dk1"/>
                </a:solidFill>
                <a:effectLst/>
                <a:uFillTx/>
                <a:latin typeface="Calibri"/>
              </a:rPr>
              <a:t>Des outils propres, bien aiguisés  et désinfectés garantissent une bonne reprise de la greffe et évitent les blessures inutiles à l’arbre.</a:t>
            </a:r>
            <a:endParaRPr lang="en-US" sz="14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400" b="0" u="none" strike="noStrike">
                <a:solidFill>
                  <a:schemeClr val="dk1"/>
                </a:solidFill>
                <a:effectLst/>
                <a:uFillTx/>
                <a:latin typeface="Calibri"/>
              </a:rPr>
              <a:t>Protéger vos mains pour éviter les accidents </a:t>
            </a:r>
            <a:endParaRPr lang="en-US" sz="1400" b="0" u="none" strike="noStrike">
              <a:solidFill>
                <a:schemeClr val="dk1"/>
              </a:solidFill>
              <a:effectLst/>
              <a:uFillTx/>
              <a:latin typeface="Calibri"/>
            </a:endParaRPr>
          </a:p>
          <a:p>
            <a:pPr marL="343080" indent="0" defTabSz="457200">
              <a:lnSpc>
                <a:spcPct val="100000"/>
              </a:lnSpc>
              <a:spcBef>
                <a:spcPts val="1191"/>
              </a:spcBef>
              <a:spcAft>
                <a:spcPts val="992"/>
              </a:spcAft>
              <a:buNone/>
            </a:pPr>
            <a:endParaRPr lang="en-US" sz="1500" b="0" u="none" strike="noStrike">
              <a:solidFill>
                <a:schemeClr val="dk1"/>
              </a:solidFill>
              <a:effectLst/>
              <a:uFillTx/>
              <a:latin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Quand prélever les greffons</a:t>
            </a:r>
            <a:endParaRPr lang="en-US" sz="4400" b="0" u="none" strike="noStrike">
              <a:solidFill>
                <a:schemeClr val="dk1"/>
              </a:solidFill>
              <a:effectLst/>
              <a:uFillTx/>
              <a:latin typeface="Calibri"/>
            </a:endParaRPr>
          </a:p>
        </p:txBody>
      </p:sp>
      <p:sp>
        <p:nvSpPr>
          <p:cNvPr id="114" name="PlaceHolder 2"/>
          <p:cNvSpPr>
            <a:spLocks noGrp="1"/>
          </p:cNvSpPr>
          <p:nvPr>
            <p:ph/>
          </p:nvPr>
        </p:nvSpPr>
        <p:spPr>
          <a:xfrm>
            <a:off x="457200" y="1600200"/>
            <a:ext cx="8229240" cy="4525560"/>
          </a:xfrm>
          <a:prstGeom prst="rect">
            <a:avLst/>
          </a:prstGeom>
          <a:noFill/>
          <a:ln w="0">
            <a:noFill/>
          </a:ln>
        </p:spPr>
        <p:txBody>
          <a:bodyPr lIns="91440" tIns="45720" rIns="91440" bIns="45720" anchor="t">
            <a:noAutofit/>
          </a:bodyPr>
          <a:lstStyle/>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Pour la greffe de printemps</a:t>
            </a:r>
            <a:endParaRPr lang="en-US" sz="18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800" b="0" u="none" strike="noStrike">
                <a:solidFill>
                  <a:schemeClr val="dk1"/>
                </a:solidFill>
                <a:effectLst/>
                <a:uFillTx/>
                <a:latin typeface="Calibri"/>
              </a:rPr>
              <a:t>Prélever lorsque l'arbre est en repos végétatif, après la chute des feuilles. </a:t>
            </a:r>
            <a:endParaRPr lang="en-US" sz="1800" b="0" u="none" strike="noStrike">
              <a:solidFill>
                <a:schemeClr val="dk1"/>
              </a:solidFill>
              <a:effectLst/>
              <a:uFillTx/>
              <a:latin typeface="Calibri"/>
            </a:endParaRPr>
          </a:p>
          <a:p>
            <a:pPr marL="864000" lvl="1" indent="0" defTabSz="457200">
              <a:spcBef>
                <a:spcPts val="1134"/>
              </a:spcBef>
              <a:buNone/>
            </a:pPr>
            <a:r>
              <a:rPr lang="fr-FR" sz="1800" b="0" u="none" strike="noStrike">
                <a:solidFill>
                  <a:schemeClr val="dk1"/>
                </a:solidFill>
                <a:effectLst/>
                <a:uFillTx/>
                <a:latin typeface="Calibri"/>
              </a:rPr>
              <a:t>=&gt; Donc en hiver et souvent en Janvier / Février</a:t>
            </a:r>
            <a:endParaRPr lang="en-US" sz="18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800" b="0" u="none" strike="noStrike">
                <a:solidFill>
                  <a:schemeClr val="dk1"/>
                </a:solidFill>
                <a:effectLst/>
                <a:uFillTx/>
                <a:latin typeface="Calibri"/>
              </a:rPr>
              <a:t>Avant le départ de la végétation. Avec le réchauffement en cours, récolter avant que les températures commencent a remonter.</a:t>
            </a:r>
            <a:endParaRPr lang="en-US" sz="1800" b="0" u="none" strike="noStrike">
              <a:solidFill>
                <a:schemeClr val="dk1"/>
              </a:solidFill>
              <a:effectLst/>
              <a:uFillTx/>
              <a:latin typeface="Calibri"/>
            </a:endParaRPr>
          </a:p>
          <a:p>
            <a:pPr marL="864000" lvl="1" indent="0" defTabSz="457200">
              <a:spcBef>
                <a:spcPts val="1134"/>
              </a:spcBef>
              <a:buNone/>
            </a:pP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Pour la greffe d'été</a:t>
            </a:r>
            <a:endParaRPr lang="en-US" sz="18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800" b="0" u="none" strike="noStrike">
                <a:solidFill>
                  <a:schemeClr val="dk1"/>
                </a:solidFill>
                <a:effectLst/>
                <a:uFillTx/>
                <a:latin typeface="Calibri"/>
              </a:rPr>
              <a:t>Prélever et greffer ... sans trop tarder !!</a:t>
            </a:r>
            <a:endParaRPr lang="en-US" sz="1800" b="0" u="none" strike="noStrike">
              <a:solidFill>
                <a:schemeClr val="dk1"/>
              </a:solidFill>
              <a:effectLst/>
              <a:uFillTx/>
              <a:latin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Comment choisir les greffons</a:t>
            </a:r>
            <a:endParaRPr lang="en-US" sz="4400" b="0" u="none" strike="noStrike">
              <a:solidFill>
                <a:schemeClr val="dk1"/>
              </a:solidFill>
              <a:effectLst/>
              <a:uFillTx/>
              <a:latin typeface="Calibri"/>
            </a:endParaRPr>
          </a:p>
        </p:txBody>
      </p:sp>
      <p:sp>
        <p:nvSpPr>
          <p:cNvPr id="116" name="PlaceHolder 2"/>
          <p:cNvSpPr>
            <a:spLocks noGrp="1"/>
          </p:cNvSpPr>
          <p:nvPr>
            <p:ph/>
          </p:nvPr>
        </p:nvSpPr>
        <p:spPr>
          <a:xfrm>
            <a:off x="410760" y="1594440"/>
            <a:ext cx="4989240" cy="3445560"/>
          </a:xfrm>
          <a:prstGeom prst="rect">
            <a:avLst/>
          </a:prstGeom>
          <a:noFill/>
          <a:ln w="0">
            <a:noFill/>
          </a:ln>
        </p:spPr>
        <p:txBody>
          <a:bodyPr lIns="91440" tIns="45720" rIns="91440" bIns="45720" anchor="t">
            <a:noAutofit/>
          </a:bodyPr>
          <a:lstStyle/>
          <a:p>
            <a:pPr marL="343080" indent="-343080" defTabSz="457200">
              <a:lnSpc>
                <a:spcPct val="100000"/>
              </a:lnSpc>
              <a:spcBef>
                <a:spcPts val="360"/>
              </a:spcBef>
              <a:buClr>
                <a:srgbClr val="000000"/>
              </a:buClr>
              <a:buFont typeface="Arial"/>
              <a:buChar char="•"/>
            </a:pPr>
            <a:r>
              <a:rPr lang="fr-FR" sz="1800" b="0" u="none" strike="noStrike">
                <a:solidFill>
                  <a:schemeClr val="dk1"/>
                </a:solidFill>
                <a:effectLst/>
                <a:uFillTx/>
                <a:latin typeface="Calibri"/>
              </a:rPr>
              <a:t>Bois de l’année</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Bourgeons bien formés</a:t>
            </a:r>
            <a:endParaRPr lang="en-US" sz="1800" b="0" u="none" strike="noStrike">
              <a:solidFill>
                <a:schemeClr val="dk1"/>
              </a:solidFill>
              <a:effectLst/>
              <a:uFillTx/>
              <a:latin typeface="Calibri"/>
            </a:endParaRPr>
          </a:p>
          <a:p>
            <a:pPr marL="343080" indent="0" defTabSz="457200">
              <a:lnSpc>
                <a:spcPct val="100000"/>
              </a:lnSpc>
              <a:spcBef>
                <a:spcPts val="1191"/>
              </a:spcBef>
              <a:spcAft>
                <a:spcPts val="992"/>
              </a:spcAft>
              <a:buNone/>
            </a:pPr>
            <a:r>
              <a:rPr lang="fr-FR" sz="1300" b="0" u="none" strike="noStrike">
                <a:solidFill>
                  <a:schemeClr val="dk1"/>
                </a:solidFill>
                <a:effectLst/>
                <a:uFillTx/>
                <a:latin typeface="Calibri"/>
              </a:rPr>
              <a:t>1. Angle inférieur à 45°. Vigueur faible à moyenne. Ne pas prélever (croissance lente du fruitier) mais laisser sur l’arbre pour la production de fruits.</a:t>
            </a:r>
            <a:endParaRPr lang="en-US" sz="1300" b="0" u="none" strike="noStrike">
              <a:solidFill>
                <a:schemeClr val="dk1"/>
              </a:solidFill>
              <a:effectLst/>
              <a:uFillTx/>
              <a:latin typeface="Calibri"/>
            </a:endParaRPr>
          </a:p>
          <a:p>
            <a:pPr marL="343080" indent="0" defTabSz="457200">
              <a:lnSpc>
                <a:spcPct val="100000"/>
              </a:lnSpc>
              <a:spcBef>
                <a:spcPts val="1191"/>
              </a:spcBef>
              <a:spcAft>
                <a:spcPts val="992"/>
              </a:spcAft>
              <a:buNone/>
            </a:pPr>
            <a:r>
              <a:rPr lang="fr-FR" sz="1300" b="0" u="none" strike="noStrike">
                <a:solidFill>
                  <a:schemeClr val="dk1"/>
                </a:solidFill>
                <a:effectLst/>
                <a:uFillTx/>
                <a:latin typeface="Calibri"/>
              </a:rPr>
              <a:t>2. Vertical ou presque, très vigoureux. Gourmand à ne pas prélever et à éliminer de l’arbre.</a:t>
            </a:r>
            <a:endParaRPr lang="en-US" sz="1300" b="0" u="none" strike="noStrike">
              <a:solidFill>
                <a:schemeClr val="dk1"/>
              </a:solidFill>
              <a:effectLst/>
              <a:uFillTx/>
              <a:latin typeface="Calibri"/>
            </a:endParaRPr>
          </a:p>
          <a:p>
            <a:pPr marL="343080" indent="0" defTabSz="457200">
              <a:lnSpc>
                <a:spcPct val="100000"/>
              </a:lnSpc>
              <a:spcBef>
                <a:spcPts val="1191"/>
              </a:spcBef>
              <a:spcAft>
                <a:spcPts val="992"/>
              </a:spcAft>
              <a:buNone/>
            </a:pPr>
            <a:r>
              <a:rPr lang="fr-FR" sz="1300" b="0" u="none" strike="noStrike">
                <a:solidFill>
                  <a:schemeClr val="dk1"/>
                </a:solidFill>
                <a:effectLst/>
                <a:uFillTx/>
                <a:latin typeface="Calibri"/>
              </a:rPr>
              <a:t>3. Angle à 60° environ. Idéal pour le prélèvement de greffons. Choisir sur une branche qui porte des fruits permet de s’assurer qu’il n’y a pas eu mutation de bourgeon, c’est à dire que le fruit correspond bien au type recherché.</a:t>
            </a:r>
            <a:endParaRPr lang="en-US" sz="1300" b="0" u="none" strike="noStrike">
              <a:solidFill>
                <a:schemeClr val="dk1"/>
              </a:solidFill>
              <a:effectLst/>
              <a:uFillTx/>
              <a:latin typeface="Calibri"/>
            </a:endParaRPr>
          </a:p>
          <a:p>
            <a:pPr marL="343080" indent="0" defTabSz="457200">
              <a:lnSpc>
                <a:spcPct val="100000"/>
              </a:lnSpc>
              <a:spcBef>
                <a:spcPts val="1191"/>
              </a:spcBef>
              <a:spcAft>
                <a:spcPts val="992"/>
              </a:spcAft>
              <a:buNone/>
            </a:pPr>
            <a:r>
              <a:rPr lang="fr-FR" sz="1300" b="0" u="none" strike="noStrike">
                <a:solidFill>
                  <a:schemeClr val="dk1"/>
                </a:solidFill>
                <a:effectLst/>
                <a:uFillTx/>
                <a:latin typeface="Calibri"/>
              </a:rPr>
              <a:t>4. Pas idéal pour les greffons, peut faire l’objet d’une taille.</a:t>
            </a:r>
            <a:endParaRPr lang="en-US" sz="1300" b="0" u="none" strike="noStrike">
              <a:solidFill>
                <a:schemeClr val="dk1"/>
              </a:solidFill>
              <a:effectLst/>
              <a:uFillTx/>
              <a:latin typeface="Calibri"/>
            </a:endParaRPr>
          </a:p>
          <a:p>
            <a:pPr marL="343080" indent="0" defTabSz="457200">
              <a:lnSpc>
                <a:spcPct val="100000"/>
              </a:lnSpc>
              <a:spcBef>
                <a:spcPts val="1191"/>
              </a:spcBef>
              <a:spcAft>
                <a:spcPts val="992"/>
              </a:spcAft>
              <a:buNone/>
            </a:pPr>
            <a:endParaRPr lang="en-US" sz="1800" b="0" u="none" strike="noStrike">
              <a:solidFill>
                <a:schemeClr val="dk1"/>
              </a:solidFill>
              <a:effectLst/>
              <a:uFillTx/>
              <a:latin typeface="Calibri"/>
            </a:endParaRPr>
          </a:p>
        </p:txBody>
      </p:sp>
      <p:pic>
        <p:nvPicPr>
          <p:cNvPr id="117" name="Image 116"/>
          <p:cNvPicPr/>
          <p:nvPr/>
        </p:nvPicPr>
        <p:blipFill>
          <a:blip r:embed="rId2"/>
          <a:stretch/>
        </p:blipFill>
        <p:spPr>
          <a:xfrm>
            <a:off x="5324760" y="2520000"/>
            <a:ext cx="3675240" cy="3420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Conservation</a:t>
            </a:r>
            <a:endParaRPr lang="en-US" sz="4400" b="0" u="none" strike="noStrike">
              <a:solidFill>
                <a:schemeClr val="dk1"/>
              </a:solidFill>
              <a:effectLst/>
              <a:uFillTx/>
              <a:latin typeface="Calibri"/>
            </a:endParaRPr>
          </a:p>
        </p:txBody>
      </p:sp>
      <p:sp>
        <p:nvSpPr>
          <p:cNvPr id="119" name="PlaceHolder 2"/>
          <p:cNvSpPr>
            <a:spLocks noGrp="1"/>
          </p:cNvSpPr>
          <p:nvPr>
            <p:ph/>
          </p:nvPr>
        </p:nvSpPr>
        <p:spPr>
          <a:xfrm>
            <a:off x="457200" y="1600200"/>
            <a:ext cx="8229240" cy="4525560"/>
          </a:xfrm>
          <a:prstGeom prst="rect">
            <a:avLst/>
          </a:prstGeom>
          <a:noFill/>
          <a:ln w="0">
            <a:noFill/>
          </a:ln>
        </p:spPr>
        <p:txBody>
          <a:bodyPr lIns="91440" tIns="45720" rIns="91440" bIns="45720" anchor="t">
            <a:noAutofit/>
          </a:bodyPr>
          <a:lstStyle/>
          <a:p>
            <a:pPr marL="343080" indent="-343080" defTabSz="457200">
              <a:lnSpc>
                <a:spcPct val="100000"/>
              </a:lnSpc>
              <a:spcBef>
                <a:spcPts val="1191"/>
              </a:spcBef>
              <a:spcAft>
                <a:spcPts val="992"/>
              </a:spcAft>
              <a:buClr>
                <a:srgbClr val="000000"/>
              </a:buClr>
              <a:buFont typeface="Arial"/>
              <a:buChar char="•"/>
            </a:pPr>
            <a:r>
              <a:rPr lang="fr-FR" sz="1400" b="0" u="none" strike="noStrike">
                <a:solidFill>
                  <a:schemeClr val="dk1"/>
                </a:solidFill>
                <a:effectLst/>
                <a:uFillTx/>
                <a:latin typeface="Calibri"/>
              </a:rPr>
              <a:t>Quand conserver : après la coupe, si la greffe ne peut pas être faite immédiatement</a:t>
            </a:r>
            <a:endParaRPr lang="en-US" sz="14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400" b="0" u="none" strike="noStrike">
                <a:solidFill>
                  <a:schemeClr val="dk1"/>
                </a:solidFill>
                <a:effectLst/>
                <a:uFillTx/>
                <a:latin typeface="Calibri"/>
              </a:rPr>
              <a:t>Conditions idéales :</a:t>
            </a:r>
            <a:endParaRPr lang="en-US" sz="14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400" b="0" u="none" strike="noStrike">
                <a:solidFill>
                  <a:schemeClr val="dk1"/>
                </a:solidFill>
                <a:effectLst/>
                <a:uFillTx/>
                <a:latin typeface="Calibri"/>
              </a:rPr>
              <a:t>Frais → température basse pour ralentir la déshydratation</a:t>
            </a:r>
            <a:endParaRPr lang="en-US" sz="14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400" b="0" u="none" strike="noStrike">
                <a:solidFill>
                  <a:schemeClr val="dk1"/>
                </a:solidFill>
                <a:effectLst/>
                <a:uFillTx/>
                <a:latin typeface="Calibri"/>
              </a:rPr>
              <a:t>Humide mais pas mouillé → envelopper dans un linge humide ou dans un sac plastique perforé</a:t>
            </a:r>
            <a:endParaRPr lang="en-US" sz="14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400" b="0" u="none" strike="noStrike">
                <a:solidFill>
                  <a:schemeClr val="dk1"/>
                </a:solidFill>
                <a:effectLst/>
                <a:uFillTx/>
                <a:latin typeface="Calibri"/>
              </a:rPr>
              <a:t>Où conserver :</a:t>
            </a:r>
            <a:endParaRPr lang="en-US" sz="14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400" b="0" u="none" strike="noStrike">
                <a:solidFill>
                  <a:schemeClr val="dk1"/>
                </a:solidFill>
                <a:effectLst/>
                <a:uFillTx/>
                <a:latin typeface="Calibri"/>
              </a:rPr>
              <a:t>Réfrigérateur (section légumes)</a:t>
            </a:r>
            <a:endParaRPr lang="en-US" sz="14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400" b="0" u="none" strike="noStrike">
                <a:solidFill>
                  <a:schemeClr val="dk1"/>
                </a:solidFill>
                <a:effectLst/>
                <a:uFillTx/>
                <a:latin typeface="Calibri"/>
              </a:rPr>
              <a:t>Cave ou local frais</a:t>
            </a:r>
            <a:endParaRPr lang="en-US" sz="14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400" b="0" u="none" strike="noStrike">
                <a:solidFill>
                  <a:schemeClr val="dk1"/>
                </a:solidFill>
                <a:effectLst/>
                <a:uFillTx/>
                <a:latin typeface="Calibri"/>
              </a:rPr>
              <a:t>Résumé :</a:t>
            </a:r>
            <a:endParaRPr lang="en-US" sz="14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400" b="0" u="none" strike="noStrike">
                <a:solidFill>
                  <a:schemeClr val="dk1"/>
                </a:solidFill>
                <a:effectLst/>
                <a:uFillTx/>
                <a:latin typeface="Calibri"/>
              </a:rPr>
              <a:t>Une bonne conservation préserve la vitalité du greffon</a:t>
            </a:r>
            <a:endParaRPr lang="en-US" sz="14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400" b="0" u="none" strike="noStrike">
                <a:solidFill>
                  <a:schemeClr val="dk1"/>
                </a:solidFill>
                <a:effectLst/>
                <a:uFillTx/>
                <a:latin typeface="Calibri"/>
              </a:rPr>
              <a:t>Évite que le bois ne se dessèche ou ne moisisse</a:t>
            </a:r>
            <a:endParaRPr lang="en-US" sz="1400" b="0" u="none" strike="noStrike">
              <a:solidFill>
                <a:schemeClr val="dk1"/>
              </a:solidFill>
              <a:effectLst/>
              <a:uFillTx/>
              <a:latin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Erreurs fréquentes</a:t>
            </a:r>
            <a:endParaRPr lang="en-US" sz="4400" b="0" u="none" strike="noStrike">
              <a:solidFill>
                <a:schemeClr val="dk1"/>
              </a:solidFill>
              <a:effectLst/>
              <a:uFillTx/>
              <a:latin typeface="Calibri"/>
            </a:endParaRPr>
          </a:p>
        </p:txBody>
      </p:sp>
      <p:sp>
        <p:nvSpPr>
          <p:cNvPr id="121" name="PlaceHolder 2"/>
          <p:cNvSpPr>
            <a:spLocks noGrp="1"/>
          </p:cNvSpPr>
          <p:nvPr>
            <p:ph/>
          </p:nvPr>
        </p:nvSpPr>
        <p:spPr>
          <a:xfrm>
            <a:off x="410760" y="1594440"/>
            <a:ext cx="8229240" cy="4525560"/>
          </a:xfrm>
          <a:prstGeom prst="rect">
            <a:avLst/>
          </a:prstGeom>
          <a:noFill/>
          <a:ln w="0">
            <a:noFill/>
          </a:ln>
        </p:spPr>
        <p:txBody>
          <a:bodyPr lIns="91440" tIns="45720" rIns="91440" bIns="45720" anchor="t">
            <a:noAutofit/>
          </a:bodyPr>
          <a:lstStyle/>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Bois trop vieux : moins de vigueur, faible reprise</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Greffon desséché : cellules mortes, greffe impossible</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Mauvaise identification du greffon</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Résumé :</a:t>
            </a:r>
            <a:endParaRPr lang="en-US" sz="18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800" b="0" u="none" strike="noStrike">
                <a:solidFill>
                  <a:schemeClr val="dk1"/>
                </a:solidFill>
                <a:effectLst/>
                <a:uFillTx/>
                <a:latin typeface="Calibri"/>
              </a:rPr>
              <a:t>Toujours choisir un greffon jeune, sain et bien hydraté</a:t>
            </a:r>
            <a:endParaRPr lang="en-US" sz="18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800" b="0" u="none" strike="noStrike">
                <a:solidFill>
                  <a:schemeClr val="dk1"/>
                </a:solidFill>
                <a:effectLst/>
                <a:uFillTx/>
                <a:latin typeface="Calibri"/>
              </a:rPr>
              <a:t>Une mauvaise conservation compromet la réussite de la greffe</a:t>
            </a:r>
            <a:endParaRPr lang="en-US" sz="18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800" b="0" u="none" strike="noStrike">
                <a:solidFill>
                  <a:schemeClr val="dk1"/>
                </a:solidFill>
                <a:effectLst/>
                <a:uFillTx/>
                <a:latin typeface="Calibri"/>
              </a:rPr>
              <a:t>Une bonne identification évite de nombreuses erreurs</a:t>
            </a:r>
            <a:endParaRPr lang="en-US" sz="1800" b="0" u="none" strike="noStrike">
              <a:solidFill>
                <a:schemeClr val="dk1"/>
              </a:solidFill>
              <a:effectLst/>
              <a:uFillTx/>
              <a:latin typeface="Calibri"/>
            </a:endParaRPr>
          </a:p>
          <a:p>
            <a:pPr marL="343080" indent="0" defTabSz="457200">
              <a:lnSpc>
                <a:spcPct val="100000"/>
              </a:lnSpc>
              <a:spcBef>
                <a:spcPts val="1191"/>
              </a:spcBef>
              <a:spcAft>
                <a:spcPts val="992"/>
              </a:spcAft>
              <a:buNone/>
            </a:pPr>
            <a:endParaRPr lang="en-US" sz="1800" b="0" u="none" strike="noStrike">
              <a:solidFill>
                <a:schemeClr val="dk1"/>
              </a:solidFill>
              <a:effectLst/>
              <a:uFillTx/>
              <a:latin typeface="Calibri"/>
            </a:endParaRPr>
          </a:p>
          <a:p>
            <a:pPr indent="0" defTabSz="457200">
              <a:lnSpc>
                <a:spcPct val="100000"/>
              </a:lnSpc>
              <a:spcBef>
                <a:spcPts val="1191"/>
              </a:spcBef>
              <a:spcAft>
                <a:spcPts val="992"/>
              </a:spcAft>
              <a:buNone/>
            </a:pPr>
            <a:endParaRPr lang="en-US" sz="1800" b="0" u="none" strike="noStrike">
              <a:solidFill>
                <a:schemeClr val="dk1"/>
              </a:solidFill>
              <a:effectLst/>
              <a:uFillTx/>
              <a:latin typeface="Calibri"/>
            </a:endParaRPr>
          </a:p>
          <a:p>
            <a:pPr marL="343080" indent="0" defTabSz="457200">
              <a:lnSpc>
                <a:spcPct val="100000"/>
              </a:lnSpc>
              <a:spcBef>
                <a:spcPts val="1191"/>
              </a:spcBef>
              <a:spcAft>
                <a:spcPts val="992"/>
              </a:spcAft>
              <a:buNone/>
            </a:pPr>
            <a:endParaRPr lang="en-US" sz="1800" b="0" u="none" strike="noStrike">
              <a:solidFill>
                <a:schemeClr val="dk1"/>
              </a:solidFill>
              <a:effectLst/>
              <a:uFillTx/>
              <a:latin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Panorama des greffes</a:t>
            </a:r>
            <a:endParaRPr lang="en-US" sz="4400" b="0" u="none" strike="noStrike">
              <a:solidFill>
                <a:schemeClr val="dk1"/>
              </a:solidFill>
              <a:effectLst/>
              <a:uFillTx/>
              <a:latin typeface="Calibri"/>
            </a:endParaRPr>
          </a:p>
        </p:txBody>
      </p:sp>
      <p:sp>
        <p:nvSpPr>
          <p:cNvPr id="123" name="PlaceHolder 2"/>
          <p:cNvSpPr>
            <a:spLocks noGrp="1"/>
          </p:cNvSpPr>
          <p:nvPr>
            <p:ph/>
          </p:nvPr>
        </p:nvSpPr>
        <p:spPr>
          <a:xfrm>
            <a:off x="457200" y="1600200"/>
            <a:ext cx="8229240" cy="4525560"/>
          </a:xfrm>
          <a:prstGeom prst="rect">
            <a:avLst/>
          </a:prstGeom>
          <a:noFill/>
          <a:ln w="0">
            <a:noFill/>
          </a:ln>
        </p:spPr>
        <p:txBody>
          <a:bodyPr lIns="91440" tIns="45720" rIns="91440" bIns="45720" anchor="t">
            <a:noAutofit/>
          </a:bodyPr>
          <a:lstStyle/>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Greffes de rapprochement</a:t>
            </a:r>
            <a:endParaRPr lang="en-US" sz="18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200" b="0" u="none" strike="noStrike">
                <a:solidFill>
                  <a:schemeClr val="dk1"/>
                </a:solidFill>
                <a:effectLst/>
                <a:uFillTx/>
                <a:latin typeface="Calibri"/>
              </a:rPr>
              <a:t>Les deux plantes restent chacune sur leurs racines / On met les tissus en contact jusqu’à soudure / Peu utilisée aujourd’hui, mais très sûre / Intéressante pour l’apprentissage</a:t>
            </a:r>
            <a:endParaRPr lang="en-US" sz="12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Greffes à rameau</a:t>
            </a:r>
            <a:endParaRPr lang="en-US" sz="18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200" b="0" u="none" strike="noStrike">
                <a:solidFill>
                  <a:schemeClr val="dk1"/>
                </a:solidFill>
                <a:effectLst/>
                <a:uFillTx/>
                <a:latin typeface="Calibri"/>
              </a:rPr>
              <a:t>Utilisent un rameau entier (plusieurs bourgeons) / Réalisées surtout fin hiver / début printemps / Techniques les plus courantes : Fente , Anglaise, Couronne ...</a:t>
            </a:r>
            <a:endParaRPr lang="en-US" sz="12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Greffes à œil (bourgeon)</a:t>
            </a:r>
            <a:endParaRPr lang="en-US" sz="18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200" b="0" u="none" strike="noStrike">
                <a:solidFill>
                  <a:schemeClr val="dk1"/>
                </a:solidFill>
                <a:effectLst/>
                <a:uFillTx/>
                <a:latin typeface="Calibri"/>
              </a:rPr>
              <a:t>Utilisent un seul bourgeon / Réalisées principalement en été / Techniques :Écusson, Chip budding ...</a:t>
            </a:r>
            <a:endParaRPr lang="en-US" sz="12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Résumé :</a:t>
            </a:r>
            <a:endParaRPr lang="en-US" sz="18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200" b="0" u="none" strike="noStrike">
                <a:solidFill>
                  <a:schemeClr val="dk1"/>
                </a:solidFill>
                <a:effectLst/>
                <a:uFillTx/>
                <a:latin typeface="Calibri"/>
              </a:rPr>
              <a:t>Le type de greffe dépend de la saison, du diamètre, et de l’objectif recherché.</a:t>
            </a:r>
            <a:endParaRPr lang="en-US" sz="12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200" b="0" u="none" strike="noStrike">
                <a:solidFill>
                  <a:schemeClr val="dk1"/>
                </a:solidFill>
                <a:effectLst/>
                <a:uFillTx/>
                <a:latin typeface="Calibri"/>
              </a:rPr>
              <a:t>Comprendre ces familles aide à choisir la bonne technique.</a:t>
            </a:r>
            <a:endParaRPr lang="en-US" sz="1200" b="0" u="none" strike="noStrike">
              <a:solidFill>
                <a:schemeClr val="dk1"/>
              </a:solidFill>
              <a:effectLst/>
              <a:uFillTx/>
              <a:latin typeface="Calibri"/>
            </a:endParaRPr>
          </a:p>
          <a:p>
            <a:pPr marL="343080" indent="0" defTabSz="457200">
              <a:lnSpc>
                <a:spcPct val="100000"/>
              </a:lnSpc>
              <a:spcBef>
                <a:spcPts val="1191"/>
              </a:spcBef>
              <a:spcAft>
                <a:spcPts val="992"/>
              </a:spcAft>
              <a:buNone/>
            </a:pPr>
            <a:endParaRPr lang="en-US" sz="1200" b="0" u="none" strike="noStrike">
              <a:solidFill>
                <a:schemeClr val="dk1"/>
              </a:solidFill>
              <a:effectLst/>
              <a:uFillTx/>
              <a:latin typeface="Calibri"/>
            </a:endParaRPr>
          </a:p>
        </p:txBody>
      </p:sp>
      <p:sp>
        <p:nvSpPr>
          <p:cNvPr id="124" name="ZoneTexte 123"/>
          <p:cNvSpPr txBox="1"/>
          <p:nvPr/>
        </p:nvSpPr>
        <p:spPr>
          <a:xfrm>
            <a:off x="3963960" y="7614720"/>
            <a:ext cx="180720" cy="427320"/>
          </a:xfrm>
          <a:prstGeom prst="rect">
            <a:avLst/>
          </a:prstGeom>
          <a:noFill/>
          <a:ln w="0">
            <a:noFill/>
          </a:ln>
        </p:spPr>
        <p:txBody>
          <a:bodyPr lIns="90000" tIns="45000" rIns="90000" bIns="45000" anchor="t">
            <a:spAutoFit/>
          </a:bodyPr>
          <a:lstStyle/>
          <a:p>
            <a:endParaRPr lang="fr-FR" sz="180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Greffe en fente</a:t>
            </a:r>
            <a:endParaRPr lang="en-US" sz="4400" b="0" u="none" strike="noStrike">
              <a:solidFill>
                <a:schemeClr val="dk1"/>
              </a:solidFill>
              <a:effectLst/>
              <a:uFillTx/>
              <a:latin typeface="Calibri"/>
            </a:endParaRPr>
          </a:p>
        </p:txBody>
      </p:sp>
      <p:sp>
        <p:nvSpPr>
          <p:cNvPr id="126" name="PlaceHolder 2"/>
          <p:cNvSpPr>
            <a:spLocks noGrp="1"/>
          </p:cNvSpPr>
          <p:nvPr>
            <p:ph/>
          </p:nvPr>
        </p:nvSpPr>
        <p:spPr>
          <a:xfrm>
            <a:off x="410760" y="1417320"/>
            <a:ext cx="6069240" cy="5062680"/>
          </a:xfrm>
          <a:prstGeom prst="rect">
            <a:avLst/>
          </a:prstGeom>
          <a:noFill/>
          <a:ln w="0">
            <a:noFill/>
          </a:ln>
        </p:spPr>
        <p:txBody>
          <a:bodyPr lIns="91440" tIns="45720" rIns="91440" bIns="45720" anchor="t">
            <a:noAutofit/>
          </a:bodyPr>
          <a:lstStyle/>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Technique simple et accessible</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Très adaptée aux débutants</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Utilisée sur porte-greffes de gros diamètre</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Permet d’insérer un ou deux greffons</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Très utile pour changer de variété ou rénover un arbre</a:t>
            </a:r>
            <a:endParaRPr lang="en-US" sz="1800" b="0" u="none" strike="noStrike">
              <a:solidFill>
                <a:schemeClr val="dk1"/>
              </a:solidFill>
              <a:effectLst/>
              <a:uFillTx/>
              <a:latin typeface="Calibri"/>
            </a:endParaRPr>
          </a:p>
          <a:p>
            <a:pPr marL="343080" indent="0" defTabSz="457200">
              <a:lnSpc>
                <a:spcPct val="100000"/>
              </a:lnSpc>
              <a:spcBef>
                <a:spcPts val="1191"/>
              </a:spcBef>
              <a:spcAft>
                <a:spcPts val="992"/>
              </a:spcAft>
              <a:buNone/>
            </a:pP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Résumé :</a:t>
            </a:r>
            <a:endParaRPr lang="en-US" sz="18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800" b="0" u="none" strike="noStrike">
                <a:solidFill>
                  <a:schemeClr val="dk1"/>
                </a:solidFill>
                <a:effectLst/>
                <a:uFillTx/>
                <a:latin typeface="Calibri"/>
              </a:rPr>
              <a:t>Greffe robuste, tolérante aux petites erreurs</a:t>
            </a:r>
            <a:endParaRPr lang="en-US" sz="18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800" b="0" u="none" strike="noStrike">
                <a:solidFill>
                  <a:schemeClr val="dk1"/>
                </a:solidFill>
                <a:effectLst/>
                <a:uFillTx/>
                <a:latin typeface="Calibri"/>
              </a:rPr>
              <a:t>Idéale pour commencer et prendre confiance</a:t>
            </a:r>
            <a:endParaRPr lang="en-US" sz="1800" b="0" u="none" strike="noStrike">
              <a:solidFill>
                <a:schemeClr val="dk1"/>
              </a:solidFill>
              <a:effectLst/>
              <a:uFillTx/>
              <a:latin typeface="Calibri"/>
            </a:endParaRPr>
          </a:p>
          <a:p>
            <a:pPr marL="343080" indent="0" defTabSz="457200">
              <a:lnSpc>
                <a:spcPct val="100000"/>
              </a:lnSpc>
              <a:spcBef>
                <a:spcPts val="1191"/>
              </a:spcBef>
              <a:spcAft>
                <a:spcPts val="992"/>
              </a:spcAft>
              <a:buNone/>
            </a:pPr>
            <a:endParaRPr lang="en-US" sz="1800" b="0" u="none" strike="noStrike">
              <a:solidFill>
                <a:schemeClr val="dk1"/>
              </a:solidFill>
              <a:effectLst/>
              <a:uFillTx/>
              <a:latin typeface="Calibri"/>
            </a:endParaRPr>
          </a:p>
        </p:txBody>
      </p:sp>
      <p:pic>
        <p:nvPicPr>
          <p:cNvPr id="127" name="Image 126"/>
          <p:cNvPicPr/>
          <p:nvPr/>
        </p:nvPicPr>
        <p:blipFill>
          <a:blip r:embed="rId2"/>
          <a:stretch/>
        </p:blipFill>
        <p:spPr>
          <a:xfrm>
            <a:off x="6197040" y="1980000"/>
            <a:ext cx="2802960" cy="358776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 greffe en fente</a:t>
            </a:r>
            <a:endParaRPr lang="en-US" sz="4400" b="0" u="none" strike="noStrike">
              <a:solidFill>
                <a:schemeClr val="dk1"/>
              </a:solidFill>
              <a:effectLst/>
              <a:uFillTx/>
              <a:latin typeface="Calibri"/>
            </a:endParaRPr>
          </a:p>
        </p:txBody>
      </p:sp>
      <p:sp>
        <p:nvSpPr>
          <p:cNvPr id="129" name="PlaceHolder 2"/>
          <p:cNvSpPr>
            <a:spLocks noGrp="1"/>
          </p:cNvSpPr>
          <p:nvPr>
            <p:ph/>
          </p:nvPr>
        </p:nvSpPr>
        <p:spPr>
          <a:xfrm>
            <a:off x="360000" y="1800000"/>
            <a:ext cx="8542800" cy="3619800"/>
          </a:xfrm>
          <a:prstGeom prst="rect">
            <a:avLst/>
          </a:prstGeom>
          <a:noFill/>
          <a:ln w="0">
            <a:noFill/>
          </a:ln>
        </p:spPr>
        <p:txBody>
          <a:bodyPr lIns="91440" tIns="45720" rIns="91440" bIns="45720" anchor="t">
            <a:noAutofit/>
          </a:bodyPr>
          <a:lstStyle/>
          <a:p>
            <a:pPr marL="343080" indent="0" defTabSz="457200">
              <a:lnSpc>
                <a:spcPct val="100000"/>
              </a:lnSpc>
              <a:spcBef>
                <a:spcPts val="1191"/>
              </a:spcBef>
              <a:spcAft>
                <a:spcPts val="992"/>
              </a:spcAft>
              <a:buNone/>
            </a:pPr>
            <a:r>
              <a:rPr lang="fr-FR" sz="1300" b="0" u="none" strike="noStrike">
                <a:solidFill>
                  <a:schemeClr val="dk1"/>
                </a:solidFill>
                <a:effectLst/>
                <a:uFillTx/>
                <a:latin typeface="Calibri"/>
              </a:rPr>
              <a:t>1. Préparation du porte-greffe : coupe nette sur un sujet sain, généralement de gros diamètre.</a:t>
            </a:r>
            <a:endParaRPr lang="en-US" sz="1300" b="0" u="none" strike="noStrike">
              <a:solidFill>
                <a:schemeClr val="dk1"/>
              </a:solidFill>
              <a:effectLst/>
              <a:uFillTx/>
              <a:latin typeface="Calibri"/>
            </a:endParaRPr>
          </a:p>
          <a:p>
            <a:pPr marL="343080" indent="0" defTabSz="457200">
              <a:lnSpc>
                <a:spcPct val="100000"/>
              </a:lnSpc>
              <a:spcBef>
                <a:spcPts val="1191"/>
              </a:spcBef>
              <a:spcAft>
                <a:spcPts val="992"/>
              </a:spcAft>
              <a:buNone/>
            </a:pPr>
            <a:r>
              <a:rPr lang="fr-FR" sz="1300" b="0" u="none" strike="noStrike">
                <a:solidFill>
                  <a:schemeClr val="dk1"/>
                </a:solidFill>
                <a:effectLst/>
                <a:uFillTx/>
                <a:latin typeface="Calibri"/>
              </a:rPr>
              <a:t>2. Réalisation de la fente : fente centrale, droite et régulière, réalisée au greffoir.</a:t>
            </a:r>
            <a:endParaRPr lang="en-US" sz="1300" b="0" u="none" strike="noStrike">
              <a:solidFill>
                <a:schemeClr val="dk1"/>
              </a:solidFill>
              <a:effectLst/>
              <a:uFillTx/>
              <a:latin typeface="Calibri"/>
            </a:endParaRPr>
          </a:p>
          <a:p>
            <a:pPr marL="343080" indent="0" defTabSz="457200">
              <a:lnSpc>
                <a:spcPct val="100000"/>
              </a:lnSpc>
              <a:spcBef>
                <a:spcPts val="1191"/>
              </a:spcBef>
              <a:spcAft>
                <a:spcPts val="992"/>
              </a:spcAft>
              <a:buNone/>
            </a:pPr>
            <a:r>
              <a:rPr lang="fr-FR" sz="1300" b="0" u="none" strike="noStrike">
                <a:solidFill>
                  <a:schemeClr val="dk1"/>
                </a:solidFill>
                <a:effectLst/>
                <a:uFillTx/>
                <a:latin typeface="Calibri"/>
              </a:rPr>
              <a:t>3. Préparation du greffon : greffon sain, non desséché, taillé en double biseau avec 2–3 bourgeons.</a:t>
            </a:r>
            <a:endParaRPr lang="en-US" sz="1300" b="0" u="none" strike="noStrike">
              <a:solidFill>
                <a:schemeClr val="dk1"/>
              </a:solidFill>
              <a:effectLst/>
              <a:uFillTx/>
              <a:latin typeface="Calibri"/>
            </a:endParaRPr>
          </a:p>
          <a:p>
            <a:pPr marL="343080" indent="0" defTabSz="457200">
              <a:lnSpc>
                <a:spcPct val="100000"/>
              </a:lnSpc>
              <a:spcBef>
                <a:spcPts val="1191"/>
              </a:spcBef>
              <a:spcAft>
                <a:spcPts val="992"/>
              </a:spcAft>
              <a:buNone/>
            </a:pPr>
            <a:r>
              <a:rPr lang="fr-FR" sz="1300" b="0" u="none" strike="noStrike">
                <a:solidFill>
                  <a:schemeClr val="dk1"/>
                </a:solidFill>
                <a:effectLst/>
                <a:uFillTx/>
                <a:latin typeface="Calibri"/>
              </a:rPr>
              <a:t>4. Mise en place du greffon : insertion dans la fente en alignant soigneusement les cambiums.</a:t>
            </a:r>
            <a:endParaRPr lang="en-US" sz="1300" b="0" u="none" strike="noStrike">
              <a:solidFill>
                <a:schemeClr val="dk1"/>
              </a:solidFill>
              <a:effectLst/>
              <a:uFillTx/>
              <a:latin typeface="Calibri"/>
            </a:endParaRPr>
          </a:p>
          <a:p>
            <a:pPr marL="343080" indent="0" defTabSz="457200">
              <a:lnSpc>
                <a:spcPct val="100000"/>
              </a:lnSpc>
              <a:spcBef>
                <a:spcPts val="1191"/>
              </a:spcBef>
              <a:spcAft>
                <a:spcPts val="992"/>
              </a:spcAft>
              <a:buNone/>
            </a:pPr>
            <a:r>
              <a:rPr lang="fr-FR" sz="1300" b="0" u="none" strike="noStrike">
                <a:solidFill>
                  <a:schemeClr val="dk1"/>
                </a:solidFill>
                <a:effectLst/>
                <a:uFillTx/>
                <a:latin typeface="Calibri"/>
              </a:rPr>
              <a:t>5. Ligature : serrer l’ensemble avec lien (raphia ou ruban) pour assurer la stabilité.</a:t>
            </a:r>
            <a:endParaRPr lang="en-US" sz="1300" b="0" u="none" strike="noStrike">
              <a:solidFill>
                <a:schemeClr val="dk1"/>
              </a:solidFill>
              <a:effectLst/>
              <a:uFillTx/>
              <a:latin typeface="Calibri"/>
            </a:endParaRPr>
          </a:p>
          <a:p>
            <a:pPr marL="343080" indent="0" defTabSz="457200">
              <a:lnSpc>
                <a:spcPct val="100000"/>
              </a:lnSpc>
              <a:spcBef>
                <a:spcPts val="1191"/>
              </a:spcBef>
              <a:spcAft>
                <a:spcPts val="992"/>
              </a:spcAft>
              <a:buNone/>
            </a:pPr>
            <a:r>
              <a:rPr lang="fr-FR" sz="1300" b="0" u="none" strike="noStrike">
                <a:solidFill>
                  <a:schemeClr val="dk1"/>
                </a:solidFill>
                <a:effectLst/>
                <a:uFillTx/>
                <a:latin typeface="Calibri"/>
              </a:rPr>
              <a:t>6. Protection : mastiquer toutes les plaies pour éviter dessèchement et infections.</a:t>
            </a:r>
            <a:endParaRPr lang="en-US" sz="1300" b="0" u="none" strike="noStrike">
              <a:solidFill>
                <a:schemeClr val="dk1"/>
              </a:solidFill>
              <a:effectLst/>
              <a:uFillTx/>
              <a:latin typeface="Calibri"/>
            </a:endParaRPr>
          </a:p>
          <a:p>
            <a:pPr marL="343080" indent="0" defTabSz="457200">
              <a:lnSpc>
                <a:spcPct val="100000"/>
              </a:lnSpc>
              <a:spcBef>
                <a:spcPts val="1191"/>
              </a:spcBef>
              <a:spcAft>
                <a:spcPts val="992"/>
              </a:spcAft>
              <a:buNone/>
            </a:pPr>
            <a:r>
              <a:rPr lang="fr-FR" sz="1300" b="0" u="none" strike="noStrike">
                <a:solidFill>
                  <a:schemeClr val="dk1"/>
                </a:solidFill>
                <a:effectLst/>
                <a:uFillTx/>
                <a:latin typeface="Calibri"/>
              </a:rPr>
              <a:t>7. Suivi après greffe : surveiller la reprise, supprimer les rejets et ajuster la ligature.</a:t>
            </a:r>
            <a:endParaRPr lang="en-US" sz="1300" b="0" u="none" strike="noStrike">
              <a:solidFill>
                <a:schemeClr val="dk1"/>
              </a:solidFill>
              <a:effectLst/>
              <a:uFillTx/>
              <a:latin typeface="Calibri"/>
            </a:endParaRPr>
          </a:p>
          <a:p>
            <a:pPr marL="343080" indent="0" defTabSz="457200">
              <a:lnSpc>
                <a:spcPct val="100000"/>
              </a:lnSpc>
              <a:spcBef>
                <a:spcPts val="1191"/>
              </a:spcBef>
              <a:spcAft>
                <a:spcPts val="992"/>
              </a:spcAft>
              <a:buNone/>
            </a:pPr>
            <a:endParaRPr lang="en-US" sz="1800" b="0" u="none" strike="noStrike">
              <a:solidFill>
                <a:schemeClr val="dk1"/>
              </a:solidFill>
              <a:effectLst/>
              <a:uFillTx/>
              <a:latin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Greffe anglaise compliquée</a:t>
            </a:r>
            <a:endParaRPr lang="en-US" sz="4400" b="0" u="none" strike="noStrike">
              <a:solidFill>
                <a:schemeClr val="dk1"/>
              </a:solidFill>
              <a:effectLst/>
              <a:uFillTx/>
              <a:latin typeface="Calibri"/>
            </a:endParaRPr>
          </a:p>
        </p:txBody>
      </p:sp>
      <p:sp>
        <p:nvSpPr>
          <p:cNvPr id="131" name="PlaceHolder 2"/>
          <p:cNvSpPr>
            <a:spLocks noGrp="1"/>
          </p:cNvSpPr>
          <p:nvPr>
            <p:ph/>
          </p:nvPr>
        </p:nvSpPr>
        <p:spPr>
          <a:xfrm>
            <a:off x="457200" y="1600200"/>
            <a:ext cx="8229240" cy="4525560"/>
          </a:xfrm>
          <a:prstGeom prst="rect">
            <a:avLst/>
          </a:prstGeom>
          <a:noFill/>
          <a:ln w="0">
            <a:noFill/>
          </a:ln>
        </p:spPr>
        <p:txBody>
          <a:bodyPr lIns="91440" tIns="45720" rIns="91440" bIns="45720" anchor="t">
            <a:noAutofit/>
          </a:bodyPr>
          <a:lstStyle/>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Porte-greffe et greffon de diamètre identique</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Coupe longue et précise</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Demande plus de soin et de précision</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Très bon contact du cambium</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Excellente reprise si bien réalisée</a:t>
            </a:r>
            <a:endParaRPr lang="en-US" sz="1800" b="0" u="none" strike="noStrike">
              <a:solidFill>
                <a:schemeClr val="dk1"/>
              </a:solidFill>
              <a:effectLst/>
              <a:uFillTx/>
              <a:latin typeface="Calibri"/>
            </a:endParaRPr>
          </a:p>
          <a:p>
            <a:pPr marL="343080" indent="0" defTabSz="457200">
              <a:lnSpc>
                <a:spcPct val="100000"/>
              </a:lnSpc>
              <a:spcBef>
                <a:spcPts val="1191"/>
              </a:spcBef>
              <a:spcAft>
                <a:spcPts val="992"/>
              </a:spcAft>
              <a:buNone/>
            </a:pP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Résumé :</a:t>
            </a:r>
            <a:endParaRPr lang="en-US" sz="18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800" b="0" u="none" strike="noStrike">
                <a:solidFill>
                  <a:schemeClr val="dk1"/>
                </a:solidFill>
                <a:effectLst/>
                <a:uFillTx/>
                <a:latin typeface="Calibri"/>
              </a:rPr>
              <a:t>Greffe plus technique</a:t>
            </a:r>
            <a:endParaRPr lang="en-US" sz="18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800" b="0" u="none" strike="noStrike">
                <a:solidFill>
                  <a:schemeClr val="dk1"/>
                </a:solidFill>
                <a:effectLst/>
                <a:uFillTx/>
                <a:latin typeface="Calibri"/>
              </a:rPr>
              <a:t>Très utilisée pour des jeunes arbres et en pépinière</a:t>
            </a:r>
            <a:endParaRPr lang="en-US" sz="1800" b="0" u="none" strike="noStrike">
              <a:solidFill>
                <a:schemeClr val="dk1"/>
              </a:solidFill>
              <a:effectLst/>
              <a:uFillTx/>
              <a:latin typeface="Calibri"/>
            </a:endParaRPr>
          </a:p>
          <a:p>
            <a:pPr marL="343080" indent="0" defTabSz="457200">
              <a:lnSpc>
                <a:spcPct val="100000"/>
              </a:lnSpc>
              <a:spcBef>
                <a:spcPts val="1191"/>
              </a:spcBef>
              <a:spcAft>
                <a:spcPts val="992"/>
              </a:spcAft>
              <a:buNone/>
            </a:pPr>
            <a:endParaRPr lang="en-US" sz="1800" b="0" u="none" strike="noStrike">
              <a:solidFill>
                <a:schemeClr val="dk1"/>
              </a:solidFill>
              <a:effectLst/>
              <a:uFillTx/>
              <a:latin typeface="Calibri"/>
            </a:endParaRPr>
          </a:p>
        </p:txBody>
      </p:sp>
      <p:pic>
        <p:nvPicPr>
          <p:cNvPr id="132" name="Image 131"/>
          <p:cNvPicPr/>
          <p:nvPr/>
        </p:nvPicPr>
        <p:blipFill>
          <a:blip r:embed="rId2"/>
          <a:stretch/>
        </p:blipFill>
        <p:spPr>
          <a:xfrm>
            <a:off x="6660000" y="1417320"/>
            <a:ext cx="2085480" cy="4860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0" y="83880"/>
            <a:ext cx="9144000" cy="1524600"/>
          </a:xfrm>
          <a:prstGeom prst="rect">
            <a:avLst/>
          </a:prstGeom>
          <a:noFill/>
          <a:ln w="0">
            <a:noFill/>
          </a:ln>
        </p:spPr>
        <p:txBody>
          <a:bodyPr lIns="0" tIns="0" rIns="0" bIns="0" anchor="ctr" anchorCtr="1">
            <a:spAutoFit/>
          </a:bodyPr>
          <a:lstStyle/>
          <a:p>
            <a:pPr indent="0" algn="ctr">
              <a:buNone/>
            </a:pPr>
            <a:r>
              <a:rPr lang="fr-FR" sz="4400" b="0" u="none" strike="noStrike">
                <a:solidFill>
                  <a:schemeClr val="dk1"/>
                </a:solidFill>
                <a:effectLst/>
                <a:uFillTx/>
                <a:latin typeface="Calibri"/>
              </a:rPr>
              <a:t>Étapes</a:t>
            </a:r>
            <a:r>
              <a:rPr lang="en-US" sz="4400" b="0" u="none" strike="noStrike">
                <a:solidFill>
                  <a:schemeClr val="dk1"/>
                </a:solidFill>
                <a:effectLst/>
                <a:uFillTx/>
                <a:latin typeface="Calibri"/>
              </a:rPr>
              <a:t> greffe anglaise compliquée </a:t>
            </a:r>
          </a:p>
        </p:txBody>
      </p:sp>
      <p:sp>
        <p:nvSpPr>
          <p:cNvPr id="134" name="ZoneTexte 133"/>
          <p:cNvSpPr txBox="1"/>
          <p:nvPr/>
        </p:nvSpPr>
        <p:spPr>
          <a:xfrm>
            <a:off x="-50040" y="1086480"/>
            <a:ext cx="9283320" cy="5214600"/>
          </a:xfrm>
          <a:prstGeom prst="rect">
            <a:avLst/>
          </a:prstGeom>
          <a:noFill/>
          <a:ln w="0">
            <a:noFill/>
          </a:ln>
        </p:spPr>
        <p:txBody>
          <a:bodyPr lIns="90000" tIns="45000" rIns="90000" bIns="45000" anchor="t">
            <a:spAutoFit/>
          </a:bodyPr>
          <a:lstStyle/>
          <a:p>
            <a:endParaRPr lang="fr-FR" sz="1300" b="0" u="none" strike="noStrike">
              <a:solidFill>
                <a:srgbClr val="000000"/>
              </a:solidFill>
              <a:effectLst/>
              <a:uFillTx/>
              <a:latin typeface="Arial"/>
            </a:endParaRPr>
          </a:p>
          <a:p>
            <a:endParaRPr lang="fr-FR" sz="1300" b="0" u="none" strike="noStrike">
              <a:solidFill>
                <a:srgbClr val="000000"/>
              </a:solidFill>
              <a:effectLst/>
              <a:uFillTx/>
              <a:latin typeface="Arial"/>
            </a:endParaRPr>
          </a:p>
          <a:p>
            <a:r>
              <a:rPr lang="fr-FR" sz="1300" b="0" u="none" strike="noStrike">
                <a:solidFill>
                  <a:schemeClr val="dk1"/>
                </a:solidFill>
                <a:effectLst/>
                <a:uFillTx/>
                <a:latin typeface="Calibri"/>
              </a:rPr>
              <a:t>1. Préparation du porte-greffe : porte-greffe sain et vigoureux, de même diamètre que le greffon, coupé proprement à la hauteur souhaitée</a:t>
            </a:r>
            <a:endParaRPr lang="fr-FR" sz="1300" b="0" u="none" strike="noStrike">
              <a:solidFill>
                <a:srgbClr val="000000"/>
              </a:solidFill>
              <a:effectLst/>
              <a:uFillTx/>
              <a:latin typeface="Arial"/>
            </a:endParaRPr>
          </a:p>
          <a:p>
            <a:endParaRPr lang="fr-FR" sz="1300" b="0" u="none" strike="noStrike">
              <a:solidFill>
                <a:srgbClr val="000000"/>
              </a:solidFill>
              <a:effectLst/>
              <a:uFillTx/>
              <a:latin typeface="Arial"/>
            </a:endParaRPr>
          </a:p>
          <a:p>
            <a:r>
              <a:rPr lang="fr-FR" sz="1300" b="0" u="none" strike="noStrike">
                <a:solidFill>
                  <a:schemeClr val="dk1"/>
                </a:solidFill>
                <a:effectLst/>
                <a:uFillTx/>
                <a:latin typeface="Calibri"/>
              </a:rPr>
              <a:t>2. Coupe oblique : réalisation d’une coupe longue, nette et régulière sur le porte-greffe et sur le greffon afin d’augmenter la surface de contact. Les dimensions du biseau n’ont pas d’importance, généralement la hauteur du biseau est 2 à 4 fois le diamètre, mais cela n’est pas une obligation.</a:t>
            </a:r>
            <a:endParaRPr lang="fr-FR" sz="1300" b="0" u="none" strike="noStrike">
              <a:solidFill>
                <a:srgbClr val="000000"/>
              </a:solidFill>
              <a:effectLst/>
              <a:uFillTx/>
              <a:latin typeface="Arial"/>
            </a:endParaRPr>
          </a:p>
          <a:p>
            <a:endParaRPr lang="fr-FR" sz="1300" b="0" u="none" strike="noStrike">
              <a:solidFill>
                <a:srgbClr val="000000"/>
              </a:solidFill>
              <a:effectLst/>
              <a:uFillTx/>
              <a:latin typeface="Arial"/>
            </a:endParaRPr>
          </a:p>
          <a:p>
            <a:r>
              <a:rPr lang="fr-FR" sz="1300" b="0" u="none" strike="noStrike">
                <a:solidFill>
                  <a:schemeClr val="dk1"/>
                </a:solidFill>
                <a:effectLst/>
                <a:uFillTx/>
                <a:latin typeface="Calibri"/>
              </a:rPr>
              <a:t>3. Réalisation des langues : entaille longitudinale pratiquée au centre à 1/3 tiers de chaque coupe pour créer un emboîtement solide.</a:t>
            </a:r>
            <a:endParaRPr lang="fr-FR" sz="1300" b="0" u="none" strike="noStrike">
              <a:solidFill>
                <a:srgbClr val="000000"/>
              </a:solidFill>
              <a:effectLst/>
              <a:uFillTx/>
              <a:latin typeface="Arial"/>
            </a:endParaRPr>
          </a:p>
          <a:p>
            <a:endParaRPr lang="fr-FR" sz="1300" b="0" u="none" strike="noStrike">
              <a:solidFill>
                <a:srgbClr val="000000"/>
              </a:solidFill>
              <a:effectLst/>
              <a:uFillTx/>
              <a:latin typeface="Arial"/>
            </a:endParaRPr>
          </a:p>
          <a:p>
            <a:r>
              <a:rPr lang="fr-FR" sz="1300" b="0" u="none" strike="noStrike">
                <a:solidFill>
                  <a:schemeClr val="dk1"/>
                </a:solidFill>
                <a:effectLst/>
                <a:uFillTx/>
                <a:latin typeface="Calibri"/>
              </a:rPr>
              <a:t>4. Préparation du greffon : greffon sain, non desséché, portant deux à trois bourgeons bien formés.</a:t>
            </a:r>
            <a:endParaRPr lang="fr-FR" sz="1300" b="0" u="none" strike="noStrike">
              <a:solidFill>
                <a:srgbClr val="000000"/>
              </a:solidFill>
              <a:effectLst/>
              <a:uFillTx/>
              <a:latin typeface="Arial"/>
            </a:endParaRPr>
          </a:p>
          <a:p>
            <a:endParaRPr lang="fr-FR" sz="1300" b="0" u="none" strike="noStrike">
              <a:solidFill>
                <a:srgbClr val="000000"/>
              </a:solidFill>
              <a:effectLst/>
              <a:uFillTx/>
              <a:latin typeface="Arial"/>
            </a:endParaRPr>
          </a:p>
          <a:p>
            <a:r>
              <a:rPr lang="fr-FR" sz="1300" b="0" u="none" strike="noStrike">
                <a:solidFill>
                  <a:schemeClr val="dk1"/>
                </a:solidFill>
                <a:effectLst/>
                <a:uFillTx/>
                <a:latin typeface="Calibri"/>
              </a:rPr>
              <a:t>5. Assemblage : emboîter greffon et porte-greffe en alignant soigneusement les cambiums sur au moins un côté.</a:t>
            </a:r>
            <a:endParaRPr lang="fr-FR" sz="1300" b="0" u="none" strike="noStrike">
              <a:solidFill>
                <a:srgbClr val="000000"/>
              </a:solidFill>
              <a:effectLst/>
              <a:uFillTx/>
              <a:latin typeface="Arial"/>
            </a:endParaRPr>
          </a:p>
          <a:p>
            <a:endParaRPr lang="fr-FR" sz="1300" b="0" u="none" strike="noStrike">
              <a:solidFill>
                <a:srgbClr val="000000"/>
              </a:solidFill>
              <a:effectLst/>
              <a:uFillTx/>
              <a:latin typeface="Arial"/>
            </a:endParaRPr>
          </a:p>
          <a:p>
            <a:r>
              <a:rPr lang="fr-FR" sz="1300" b="0" u="none" strike="noStrike">
                <a:solidFill>
                  <a:schemeClr val="dk1"/>
                </a:solidFill>
                <a:effectLst/>
                <a:uFillTx/>
                <a:latin typeface="Calibri"/>
              </a:rPr>
              <a:t>6. Ligature : lier fermement avec raphia, ruban ou lien élastique pour éviter tout mouvement.</a:t>
            </a:r>
            <a:endParaRPr lang="fr-FR" sz="1300" b="0" u="none" strike="noStrike">
              <a:solidFill>
                <a:srgbClr val="000000"/>
              </a:solidFill>
              <a:effectLst/>
              <a:uFillTx/>
              <a:latin typeface="Arial"/>
            </a:endParaRPr>
          </a:p>
          <a:p>
            <a:endParaRPr lang="fr-FR" sz="1300" b="0" u="none" strike="noStrike">
              <a:solidFill>
                <a:srgbClr val="000000"/>
              </a:solidFill>
              <a:effectLst/>
              <a:uFillTx/>
              <a:latin typeface="Arial"/>
            </a:endParaRPr>
          </a:p>
          <a:p>
            <a:r>
              <a:rPr lang="fr-FR" sz="1300" b="0" u="none" strike="noStrike">
                <a:solidFill>
                  <a:schemeClr val="dk1"/>
                </a:solidFill>
                <a:effectLst/>
                <a:uFillTx/>
                <a:latin typeface="Calibri"/>
              </a:rPr>
              <a:t>7. Protection : mastiquer l’ensemble des coupes pour assurer l’étanchéité et prévenir le dessèchement et les infections.</a:t>
            </a:r>
            <a:endParaRPr lang="fr-FR" sz="1300" b="0" u="none" strike="noStrike">
              <a:solidFill>
                <a:srgbClr val="000000"/>
              </a:solidFill>
              <a:effectLst/>
              <a:uFillTx/>
              <a:latin typeface="Arial"/>
            </a:endParaRPr>
          </a:p>
          <a:p>
            <a:endParaRPr lang="fr-FR" sz="1300" b="0" u="none" strike="noStrike">
              <a:solidFill>
                <a:srgbClr val="000000"/>
              </a:solidFill>
              <a:effectLst/>
              <a:uFillTx/>
              <a:latin typeface="Arial"/>
            </a:endParaRPr>
          </a:p>
          <a:p>
            <a:r>
              <a:rPr lang="fr-FR" sz="1300" b="0" u="none" strike="noStrike">
                <a:solidFill>
                  <a:schemeClr val="dk1"/>
                </a:solidFill>
                <a:effectLst/>
                <a:uFillTx/>
                <a:latin typeface="Calibri"/>
              </a:rPr>
              <a:t>8. Suivi après greffe : surveiller la reprise, supprimer les rejets concurrents et ajuster la ligature si nécessaire</a:t>
            </a:r>
            <a:endParaRPr lang="fr-FR" sz="1300" b="0" u="none" strike="noStrike">
              <a:solidFill>
                <a:srgbClr val="000000"/>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Greffe en couronne</a:t>
            </a:r>
            <a:endParaRPr lang="en-US" sz="4400" b="0" u="none" strike="noStrike">
              <a:solidFill>
                <a:schemeClr val="dk1"/>
              </a:solidFill>
              <a:effectLst/>
              <a:uFillTx/>
              <a:latin typeface="Calibri"/>
            </a:endParaRPr>
          </a:p>
        </p:txBody>
      </p:sp>
      <p:sp>
        <p:nvSpPr>
          <p:cNvPr id="136" name="PlaceHolder 2"/>
          <p:cNvSpPr>
            <a:spLocks noGrp="1"/>
          </p:cNvSpPr>
          <p:nvPr>
            <p:ph/>
          </p:nvPr>
        </p:nvSpPr>
        <p:spPr>
          <a:xfrm>
            <a:off x="457200" y="1600200"/>
            <a:ext cx="8229240" cy="4525560"/>
          </a:xfrm>
          <a:prstGeom prst="rect">
            <a:avLst/>
          </a:prstGeom>
          <a:noFill/>
          <a:ln w="0">
            <a:noFill/>
          </a:ln>
        </p:spPr>
        <p:txBody>
          <a:bodyPr lIns="91440" tIns="45720" rIns="91440" bIns="45720" anchor="t">
            <a:noAutofit/>
          </a:bodyPr>
          <a:lstStyle/>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Réalisée sur arbres adultes</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Porte-greffe de gros diamètre</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Greffons insérés sous l’écorce</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Permet de changer rapidement de variété</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Souvent utilisée pour rénover un verger</a:t>
            </a:r>
            <a:endParaRPr lang="en-US" sz="1800" b="0" u="none" strike="noStrike">
              <a:solidFill>
                <a:schemeClr val="dk1"/>
              </a:solidFill>
              <a:effectLst/>
              <a:uFillTx/>
              <a:latin typeface="Calibri"/>
            </a:endParaRPr>
          </a:p>
          <a:p>
            <a:pPr marL="343080" indent="0" defTabSz="457200">
              <a:lnSpc>
                <a:spcPct val="100000"/>
              </a:lnSpc>
              <a:spcBef>
                <a:spcPts val="1191"/>
              </a:spcBef>
              <a:spcAft>
                <a:spcPts val="992"/>
              </a:spcAft>
              <a:buNone/>
            </a:pP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Résumé :</a:t>
            </a:r>
            <a:endParaRPr lang="en-US" sz="18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800" b="0" u="none" strike="noStrike">
                <a:solidFill>
                  <a:schemeClr val="dk1"/>
                </a:solidFill>
                <a:effectLst/>
                <a:uFillTx/>
                <a:latin typeface="Calibri"/>
              </a:rPr>
              <a:t>Technique efficace pour redonner vie à un arbre existant</a:t>
            </a:r>
            <a:endParaRPr lang="en-US" sz="1800" b="0" u="none" strike="noStrike">
              <a:solidFill>
                <a:schemeClr val="dk1"/>
              </a:solidFill>
              <a:effectLst/>
              <a:uFillTx/>
              <a:latin typeface="Calibri"/>
            </a:endParaRPr>
          </a:p>
          <a:p>
            <a:pPr marL="343080" indent="0" defTabSz="457200">
              <a:lnSpc>
                <a:spcPct val="100000"/>
              </a:lnSpc>
              <a:spcBef>
                <a:spcPts val="1191"/>
              </a:spcBef>
              <a:spcAft>
                <a:spcPts val="992"/>
              </a:spcAft>
              <a:buNone/>
            </a:pPr>
            <a:endParaRPr lang="en-US" sz="1800" b="0" u="none" strike="noStrike">
              <a:solidFill>
                <a:schemeClr val="dk1"/>
              </a:solidFill>
              <a:effectLst/>
              <a:uFillTx/>
              <a:latin typeface="Calibri"/>
            </a:endParaRPr>
          </a:p>
        </p:txBody>
      </p:sp>
      <p:pic>
        <p:nvPicPr>
          <p:cNvPr id="137" name="Image 136"/>
          <p:cNvPicPr/>
          <p:nvPr/>
        </p:nvPicPr>
        <p:blipFill>
          <a:blip r:embed="rId2"/>
          <a:stretch/>
        </p:blipFill>
        <p:spPr>
          <a:xfrm>
            <a:off x="6120000" y="1129680"/>
            <a:ext cx="2588040" cy="373032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ZoneTexte 137"/>
          <p:cNvSpPr txBox="1"/>
          <p:nvPr/>
        </p:nvSpPr>
        <p:spPr>
          <a:xfrm>
            <a:off x="71280" y="1698120"/>
            <a:ext cx="9072720" cy="4781880"/>
          </a:xfrm>
          <a:prstGeom prst="rect">
            <a:avLst/>
          </a:prstGeom>
          <a:noFill/>
          <a:ln w="0">
            <a:noFill/>
          </a:ln>
        </p:spPr>
        <p:txBody>
          <a:bodyPr lIns="90000" tIns="45000" rIns="90000" bIns="45000" anchor="t">
            <a:spAutoFit/>
          </a:bodyPr>
          <a:lstStyle/>
          <a:p>
            <a:r>
              <a:rPr lang="fr-FR" sz="1500" b="0" u="none" strike="noStrike">
                <a:solidFill>
                  <a:srgbClr val="000000"/>
                </a:solidFill>
                <a:effectLst/>
                <a:uFillTx/>
                <a:latin typeface="Calibri"/>
              </a:rPr>
              <a:t>1. Préparation du porte-greffe : arbre ou branche de gros diamètre, coupé net au printemps lorsque la sève circule.</a:t>
            </a:r>
            <a:endParaRPr lang="fr-FR" sz="1500" b="0" u="none" strike="noStrike">
              <a:solidFill>
                <a:srgbClr val="000000"/>
              </a:solidFill>
              <a:effectLst/>
              <a:uFillTx/>
              <a:latin typeface="Arial"/>
            </a:endParaRPr>
          </a:p>
          <a:p>
            <a:endParaRPr lang="fr-FR" sz="1500" b="0" u="none" strike="noStrike">
              <a:solidFill>
                <a:srgbClr val="000000"/>
              </a:solidFill>
              <a:effectLst/>
              <a:uFillTx/>
              <a:latin typeface="Arial"/>
            </a:endParaRPr>
          </a:p>
          <a:p>
            <a:r>
              <a:rPr lang="fr-FR" sz="1500" b="0" u="none" strike="noStrike">
                <a:solidFill>
                  <a:srgbClr val="000000"/>
                </a:solidFill>
                <a:effectLst/>
                <a:uFillTx/>
                <a:latin typeface="Calibri"/>
              </a:rPr>
              <a:t>2. Incision de l’écorce : incisions verticales dans l’écorce afin de pouvoir la décoller sans la déchirer.</a:t>
            </a:r>
            <a:endParaRPr lang="fr-FR" sz="1500" b="0" u="none" strike="noStrike">
              <a:solidFill>
                <a:srgbClr val="000000"/>
              </a:solidFill>
              <a:effectLst/>
              <a:uFillTx/>
              <a:latin typeface="Arial"/>
            </a:endParaRPr>
          </a:p>
          <a:p>
            <a:endParaRPr lang="fr-FR" sz="1500" b="0" u="none" strike="noStrike">
              <a:solidFill>
                <a:srgbClr val="000000"/>
              </a:solidFill>
              <a:effectLst/>
              <a:uFillTx/>
              <a:latin typeface="Arial"/>
            </a:endParaRPr>
          </a:p>
          <a:p>
            <a:r>
              <a:rPr lang="fr-FR" sz="1500" b="0" u="none" strike="noStrike">
                <a:solidFill>
                  <a:srgbClr val="000000"/>
                </a:solidFill>
                <a:effectLst/>
                <a:uFillTx/>
                <a:latin typeface="Calibri"/>
              </a:rPr>
              <a:t>3. Préparation du greffon : greffon sain, taillé en biseau long avec deux à trois bourgeons.</a:t>
            </a:r>
            <a:endParaRPr lang="fr-FR" sz="1500" b="0" u="none" strike="noStrike">
              <a:solidFill>
                <a:srgbClr val="000000"/>
              </a:solidFill>
              <a:effectLst/>
              <a:uFillTx/>
              <a:latin typeface="Arial"/>
            </a:endParaRPr>
          </a:p>
          <a:p>
            <a:endParaRPr lang="fr-FR" sz="1500" b="0" u="none" strike="noStrike">
              <a:solidFill>
                <a:srgbClr val="000000"/>
              </a:solidFill>
              <a:effectLst/>
              <a:uFillTx/>
              <a:latin typeface="Arial"/>
            </a:endParaRPr>
          </a:p>
          <a:p>
            <a:r>
              <a:rPr lang="fr-FR" sz="1500" b="0" u="none" strike="noStrike">
                <a:solidFill>
                  <a:srgbClr val="000000"/>
                </a:solidFill>
                <a:effectLst/>
                <a:uFillTx/>
                <a:latin typeface="Calibri"/>
              </a:rPr>
              <a:t>4. Mise en place du greffon : insertion du greffon entre l’écorce et le bois, cambium contre cambium.</a:t>
            </a:r>
            <a:endParaRPr lang="fr-FR" sz="1500" b="0" u="none" strike="noStrike">
              <a:solidFill>
                <a:srgbClr val="000000"/>
              </a:solidFill>
              <a:effectLst/>
              <a:uFillTx/>
              <a:latin typeface="Arial"/>
            </a:endParaRPr>
          </a:p>
          <a:p>
            <a:endParaRPr lang="fr-FR" sz="1500" b="0" u="none" strike="noStrike">
              <a:solidFill>
                <a:srgbClr val="000000"/>
              </a:solidFill>
              <a:effectLst/>
              <a:uFillTx/>
              <a:latin typeface="Arial"/>
            </a:endParaRPr>
          </a:p>
          <a:p>
            <a:r>
              <a:rPr lang="fr-FR" sz="1500" b="0" u="none" strike="noStrike">
                <a:solidFill>
                  <a:srgbClr val="000000"/>
                </a:solidFill>
                <a:effectLst/>
                <a:uFillTx/>
                <a:latin typeface="Calibri"/>
              </a:rPr>
              <a:t>5. Répartition des greffons : plusieurs greffons peuvent être placés autour du tronc selon le diamètre.</a:t>
            </a:r>
            <a:endParaRPr lang="fr-FR" sz="1500" b="0" u="none" strike="noStrike">
              <a:solidFill>
                <a:srgbClr val="000000"/>
              </a:solidFill>
              <a:effectLst/>
              <a:uFillTx/>
              <a:latin typeface="Arial"/>
            </a:endParaRPr>
          </a:p>
          <a:p>
            <a:endParaRPr lang="fr-FR" sz="1500" b="0" u="none" strike="noStrike">
              <a:solidFill>
                <a:srgbClr val="000000"/>
              </a:solidFill>
              <a:effectLst/>
              <a:uFillTx/>
              <a:latin typeface="Arial"/>
            </a:endParaRPr>
          </a:p>
          <a:p>
            <a:r>
              <a:rPr lang="fr-FR" sz="1500" b="0" u="none" strike="noStrike">
                <a:solidFill>
                  <a:srgbClr val="000000"/>
                </a:solidFill>
                <a:effectLst/>
                <a:uFillTx/>
                <a:latin typeface="Calibri"/>
              </a:rPr>
              <a:t>6. Ligature : serrer l’ensemble pour maintenir les greffons en place.</a:t>
            </a:r>
            <a:endParaRPr lang="fr-FR" sz="1500" b="0" u="none" strike="noStrike">
              <a:solidFill>
                <a:srgbClr val="000000"/>
              </a:solidFill>
              <a:effectLst/>
              <a:uFillTx/>
              <a:latin typeface="Arial"/>
            </a:endParaRPr>
          </a:p>
          <a:p>
            <a:endParaRPr lang="fr-FR" sz="1500" b="0" u="none" strike="noStrike">
              <a:solidFill>
                <a:srgbClr val="000000"/>
              </a:solidFill>
              <a:effectLst/>
              <a:uFillTx/>
              <a:latin typeface="Arial"/>
            </a:endParaRPr>
          </a:p>
          <a:p>
            <a:r>
              <a:rPr lang="fr-FR" sz="1500" b="0" u="none" strike="noStrike">
                <a:solidFill>
                  <a:srgbClr val="000000"/>
                </a:solidFill>
                <a:effectLst/>
                <a:uFillTx/>
                <a:latin typeface="Calibri"/>
              </a:rPr>
              <a:t>7. Protection : masticage soigneux de toutes les plaies.</a:t>
            </a:r>
            <a:endParaRPr lang="fr-FR" sz="1500" b="0" u="none" strike="noStrike">
              <a:solidFill>
                <a:srgbClr val="000000"/>
              </a:solidFill>
              <a:effectLst/>
              <a:uFillTx/>
              <a:latin typeface="Arial"/>
            </a:endParaRPr>
          </a:p>
          <a:p>
            <a:endParaRPr lang="fr-FR" sz="1500" b="0" u="none" strike="noStrike">
              <a:solidFill>
                <a:srgbClr val="000000"/>
              </a:solidFill>
              <a:effectLst/>
              <a:uFillTx/>
              <a:latin typeface="Arial"/>
            </a:endParaRPr>
          </a:p>
          <a:p>
            <a:r>
              <a:rPr lang="fr-FR" sz="1500" b="0" u="none" strike="noStrike">
                <a:solidFill>
                  <a:srgbClr val="000000"/>
                </a:solidFill>
                <a:effectLst/>
                <a:uFillTx/>
                <a:latin typeface="Calibri"/>
              </a:rPr>
              <a:t>8. Suivi après greffe : surveiller la reprise et supprimer les pousses concurrentes.</a:t>
            </a:r>
            <a:endParaRPr lang="fr-FR" sz="1500" b="0" u="none" strike="noStrike">
              <a:solidFill>
                <a:srgbClr val="000000"/>
              </a:solidFill>
              <a:effectLst/>
              <a:uFillTx/>
              <a:latin typeface="Arial"/>
            </a:endParaRPr>
          </a:p>
        </p:txBody>
      </p:sp>
      <p:sp>
        <p:nvSpPr>
          <p:cNvPr id="139" name="ZoneTexte 138"/>
          <p:cNvSpPr txBox="1"/>
          <p:nvPr/>
        </p:nvSpPr>
        <p:spPr>
          <a:xfrm>
            <a:off x="0" y="360000"/>
            <a:ext cx="9000000" cy="852480"/>
          </a:xfrm>
          <a:prstGeom prst="rect">
            <a:avLst/>
          </a:prstGeom>
          <a:noFill/>
          <a:ln w="0">
            <a:noFill/>
          </a:ln>
        </p:spPr>
        <p:txBody>
          <a:bodyPr lIns="90000" tIns="45000" rIns="90000" bIns="45000" anchor="t" anchorCtr="1">
            <a:spAutoFit/>
          </a:bodyPr>
          <a:lstStyle/>
          <a:p>
            <a:pPr algn="ctr"/>
            <a:r>
              <a:rPr lang="fr-FR" sz="4400" b="0" u="none" strike="noStrike">
                <a:solidFill>
                  <a:srgbClr val="000000"/>
                </a:solidFill>
                <a:effectLst/>
                <a:uFillTx/>
                <a:latin typeface="Calibri"/>
              </a:rPr>
              <a:t>Étapes de la greffe en couronne</a:t>
            </a:r>
            <a:endParaRPr lang="fr-FR" sz="4400" b="0" u="none" strike="noStrike">
              <a:solidFill>
                <a:srgbClr val="000000"/>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Greffe en écusson</a:t>
            </a:r>
            <a:endParaRPr lang="en-US" sz="4400" b="0" u="none" strike="noStrike">
              <a:solidFill>
                <a:schemeClr val="dk1"/>
              </a:solidFill>
              <a:effectLst/>
              <a:uFillTx/>
              <a:latin typeface="Calibri"/>
            </a:endParaRPr>
          </a:p>
        </p:txBody>
      </p:sp>
      <p:pic>
        <p:nvPicPr>
          <p:cNvPr id="141" name="Image 140"/>
          <p:cNvPicPr/>
          <p:nvPr/>
        </p:nvPicPr>
        <p:blipFill>
          <a:blip r:embed="rId2"/>
          <a:stretch/>
        </p:blipFill>
        <p:spPr>
          <a:xfrm>
            <a:off x="3960000" y="1417320"/>
            <a:ext cx="4812840" cy="3060000"/>
          </a:xfrm>
          <a:prstGeom prst="rect">
            <a:avLst/>
          </a:prstGeom>
        </p:spPr>
      </p:pic>
      <p:sp>
        <p:nvSpPr>
          <p:cNvPr id="142" name="PlaceHolder 2"/>
          <p:cNvSpPr>
            <a:spLocks noGrp="1"/>
          </p:cNvSpPr>
          <p:nvPr>
            <p:ph/>
          </p:nvPr>
        </p:nvSpPr>
        <p:spPr>
          <a:xfrm>
            <a:off x="180000" y="1440000"/>
            <a:ext cx="4942800" cy="4525560"/>
          </a:xfrm>
          <a:prstGeom prst="rect">
            <a:avLst/>
          </a:prstGeom>
          <a:noFill/>
          <a:ln w="0">
            <a:noFill/>
          </a:ln>
        </p:spPr>
        <p:txBody>
          <a:bodyPr lIns="91440" tIns="45720" rIns="91440" bIns="45720" anchor="t">
            <a:noAutofit/>
          </a:bodyPr>
          <a:lstStyle/>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Réalisée principalement en été</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Utilise un seul bourgeon</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Très économique en greffons</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Très répandue en pépinière</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Demande une bonne circulation de sève</a:t>
            </a:r>
            <a:endParaRPr lang="en-US" sz="1800" b="0" u="none" strike="noStrike">
              <a:solidFill>
                <a:schemeClr val="dk1"/>
              </a:solidFill>
              <a:effectLst/>
              <a:uFillTx/>
              <a:latin typeface="Calibri"/>
            </a:endParaRPr>
          </a:p>
          <a:p>
            <a:pPr marL="343080" indent="0" defTabSz="457200">
              <a:lnSpc>
                <a:spcPct val="100000"/>
              </a:lnSpc>
              <a:spcBef>
                <a:spcPts val="1191"/>
              </a:spcBef>
              <a:spcAft>
                <a:spcPts val="992"/>
              </a:spcAft>
              <a:buNone/>
            </a:pP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Résumé :</a:t>
            </a:r>
            <a:endParaRPr lang="en-US" sz="18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800" b="0" u="none" strike="noStrike">
                <a:solidFill>
                  <a:schemeClr val="dk1"/>
                </a:solidFill>
                <a:effectLst/>
                <a:uFillTx/>
                <a:latin typeface="Calibri"/>
              </a:rPr>
              <a:t>Greffe discrète et efficace</a:t>
            </a:r>
            <a:endParaRPr lang="en-US" sz="18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800" b="0" u="none" strike="noStrike">
                <a:solidFill>
                  <a:schemeClr val="dk1"/>
                </a:solidFill>
                <a:effectLst/>
                <a:uFillTx/>
                <a:latin typeface="Calibri"/>
              </a:rPr>
              <a:t>Très utilisée pour la multiplication</a:t>
            </a:r>
            <a:endParaRPr lang="en-US" sz="1800" b="0" u="none" strike="noStrike">
              <a:solidFill>
                <a:schemeClr val="dk1"/>
              </a:solidFill>
              <a:effectLst/>
              <a:uFillTx/>
              <a:latin typeface="Calibri"/>
            </a:endParaRPr>
          </a:p>
          <a:p>
            <a:pPr marL="343080" indent="0" defTabSz="457200">
              <a:lnSpc>
                <a:spcPct val="100000"/>
              </a:lnSpc>
              <a:spcBef>
                <a:spcPts val="1191"/>
              </a:spcBef>
              <a:spcAft>
                <a:spcPts val="992"/>
              </a:spcAft>
              <a:buNone/>
            </a:pPr>
            <a:endParaRPr lang="en-US" sz="1800" b="0" u="none" strike="noStrike">
              <a:solidFill>
                <a:schemeClr val="dk1"/>
              </a:solidFill>
              <a:effectLst/>
              <a:uFillTx/>
              <a:latin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ZoneTexte 142"/>
          <p:cNvSpPr txBox="1"/>
          <p:nvPr/>
        </p:nvSpPr>
        <p:spPr>
          <a:xfrm>
            <a:off x="39600" y="1787040"/>
            <a:ext cx="9104040" cy="4444920"/>
          </a:xfrm>
          <a:prstGeom prst="rect">
            <a:avLst/>
          </a:prstGeom>
          <a:noFill/>
          <a:ln w="0">
            <a:noFill/>
          </a:ln>
        </p:spPr>
        <p:txBody>
          <a:bodyPr lIns="90000" tIns="45000" rIns="90000" bIns="45000" anchor="t">
            <a:spAutoFit/>
          </a:bodyPr>
          <a:lstStyle/>
          <a:p>
            <a:r>
              <a:rPr lang="fr-FR" sz="1800" b="0" u="none" strike="noStrike">
                <a:solidFill>
                  <a:srgbClr val="000000"/>
                </a:solidFill>
                <a:effectLst/>
                <a:uFillTx/>
                <a:latin typeface="Calibri"/>
              </a:rPr>
              <a:t>1. Choix de la période : greffe réalisée en été, lorsque l’écorce se décolle facilement.</a:t>
            </a:r>
            <a:endParaRPr lang="fr-FR" sz="1800" b="0" u="none" strike="noStrike">
              <a:solidFill>
                <a:srgbClr val="000000"/>
              </a:solidFill>
              <a:effectLst/>
              <a:uFillTx/>
              <a:latin typeface="Arial"/>
            </a:endParaRPr>
          </a:p>
          <a:p>
            <a:endParaRPr lang="fr-FR" sz="1800" b="0" u="none" strike="noStrike">
              <a:solidFill>
                <a:srgbClr val="000000"/>
              </a:solidFill>
              <a:effectLst/>
              <a:uFillTx/>
              <a:latin typeface="Arial"/>
            </a:endParaRPr>
          </a:p>
          <a:p>
            <a:r>
              <a:rPr lang="fr-FR" sz="1800" b="0" u="none" strike="noStrike">
                <a:solidFill>
                  <a:srgbClr val="000000"/>
                </a:solidFill>
                <a:effectLst/>
                <a:uFillTx/>
                <a:latin typeface="Calibri"/>
              </a:rPr>
              <a:t>2. Préparation du porte-greffe : incision en forme de T sur l’écorce.</a:t>
            </a:r>
            <a:endParaRPr lang="fr-FR" sz="1800" b="0" u="none" strike="noStrike">
              <a:solidFill>
                <a:srgbClr val="000000"/>
              </a:solidFill>
              <a:effectLst/>
              <a:uFillTx/>
              <a:latin typeface="Arial"/>
            </a:endParaRPr>
          </a:p>
          <a:p>
            <a:endParaRPr lang="fr-FR" sz="1800" b="0" u="none" strike="noStrike">
              <a:solidFill>
                <a:srgbClr val="000000"/>
              </a:solidFill>
              <a:effectLst/>
              <a:uFillTx/>
              <a:latin typeface="Arial"/>
            </a:endParaRPr>
          </a:p>
          <a:p>
            <a:r>
              <a:rPr lang="fr-FR" sz="1800" b="0" u="none" strike="noStrike">
                <a:solidFill>
                  <a:srgbClr val="000000"/>
                </a:solidFill>
                <a:effectLst/>
                <a:uFillTx/>
                <a:latin typeface="Calibri"/>
              </a:rPr>
              <a:t>3. Prélèvement de l’écusson : bourgeon sain prélevé avec une fine lamelle d’écorce.</a:t>
            </a:r>
            <a:endParaRPr lang="fr-FR" sz="1800" b="0" u="none" strike="noStrike">
              <a:solidFill>
                <a:srgbClr val="000000"/>
              </a:solidFill>
              <a:effectLst/>
              <a:uFillTx/>
              <a:latin typeface="Arial"/>
            </a:endParaRPr>
          </a:p>
          <a:p>
            <a:endParaRPr lang="fr-FR" sz="1800" b="0" u="none" strike="noStrike">
              <a:solidFill>
                <a:srgbClr val="000000"/>
              </a:solidFill>
              <a:effectLst/>
              <a:uFillTx/>
              <a:latin typeface="Arial"/>
            </a:endParaRPr>
          </a:p>
          <a:p>
            <a:r>
              <a:rPr lang="fr-FR" sz="1800" b="0" u="none" strike="noStrike">
                <a:solidFill>
                  <a:srgbClr val="000000"/>
                </a:solidFill>
                <a:effectLst/>
                <a:uFillTx/>
                <a:latin typeface="Calibri"/>
              </a:rPr>
              <a:t>4. Mise en place : insertion de l’écusson sous l’écorce du porte-greffe.</a:t>
            </a:r>
            <a:endParaRPr lang="fr-FR" sz="1800" b="0" u="none" strike="noStrike">
              <a:solidFill>
                <a:srgbClr val="000000"/>
              </a:solidFill>
              <a:effectLst/>
              <a:uFillTx/>
              <a:latin typeface="Arial"/>
            </a:endParaRPr>
          </a:p>
          <a:p>
            <a:endParaRPr lang="fr-FR" sz="1800" b="0" u="none" strike="noStrike">
              <a:solidFill>
                <a:srgbClr val="000000"/>
              </a:solidFill>
              <a:effectLst/>
              <a:uFillTx/>
              <a:latin typeface="Arial"/>
            </a:endParaRPr>
          </a:p>
          <a:p>
            <a:r>
              <a:rPr lang="fr-FR" sz="1800" b="0" u="none" strike="noStrike">
                <a:solidFill>
                  <a:srgbClr val="000000"/>
                </a:solidFill>
                <a:effectLst/>
                <a:uFillTx/>
                <a:latin typeface="Calibri"/>
              </a:rPr>
              <a:t>5. Ajustement : écusson bien plaqué contre le cambium.</a:t>
            </a:r>
            <a:endParaRPr lang="fr-FR" sz="1800" b="0" u="none" strike="noStrike">
              <a:solidFill>
                <a:srgbClr val="000000"/>
              </a:solidFill>
              <a:effectLst/>
              <a:uFillTx/>
              <a:latin typeface="Arial"/>
            </a:endParaRPr>
          </a:p>
          <a:p>
            <a:endParaRPr lang="fr-FR" sz="1800" b="0" u="none" strike="noStrike">
              <a:solidFill>
                <a:srgbClr val="000000"/>
              </a:solidFill>
              <a:effectLst/>
              <a:uFillTx/>
              <a:latin typeface="Arial"/>
            </a:endParaRPr>
          </a:p>
          <a:p>
            <a:r>
              <a:rPr lang="fr-FR" sz="1800" b="0" u="none" strike="noStrike">
                <a:solidFill>
                  <a:srgbClr val="000000"/>
                </a:solidFill>
                <a:effectLst/>
                <a:uFillTx/>
                <a:latin typeface="Calibri"/>
              </a:rPr>
              <a:t>6. Ligature : ligature légère sans recouvrir le bourgeon.</a:t>
            </a:r>
            <a:endParaRPr lang="fr-FR" sz="1800" b="0" u="none" strike="noStrike">
              <a:solidFill>
                <a:srgbClr val="000000"/>
              </a:solidFill>
              <a:effectLst/>
              <a:uFillTx/>
              <a:latin typeface="Arial"/>
            </a:endParaRPr>
          </a:p>
          <a:p>
            <a:endParaRPr lang="fr-FR" sz="1800" b="0" u="none" strike="noStrike">
              <a:solidFill>
                <a:srgbClr val="000000"/>
              </a:solidFill>
              <a:effectLst/>
              <a:uFillTx/>
              <a:latin typeface="Arial"/>
            </a:endParaRPr>
          </a:p>
          <a:p>
            <a:r>
              <a:rPr lang="fr-FR" sz="1800" b="0" u="none" strike="noStrike">
                <a:solidFill>
                  <a:srgbClr val="000000"/>
                </a:solidFill>
                <a:effectLst/>
                <a:uFillTx/>
                <a:latin typeface="Calibri"/>
              </a:rPr>
              <a:t>7. Contrôle : vérification de la reprise après quelques semaines.</a:t>
            </a:r>
            <a:endParaRPr lang="fr-FR" sz="1800" b="0" u="none" strike="noStrike">
              <a:solidFill>
                <a:srgbClr val="000000"/>
              </a:solidFill>
              <a:effectLst/>
              <a:uFillTx/>
              <a:latin typeface="Arial"/>
            </a:endParaRPr>
          </a:p>
          <a:p>
            <a:endParaRPr lang="fr-FR" sz="1800" b="0" u="none" strike="noStrike">
              <a:solidFill>
                <a:srgbClr val="000000"/>
              </a:solidFill>
              <a:effectLst/>
              <a:uFillTx/>
              <a:latin typeface="Arial"/>
            </a:endParaRPr>
          </a:p>
        </p:txBody>
      </p:sp>
      <p:sp>
        <p:nvSpPr>
          <p:cNvPr id="144" name="ZoneTexte 143"/>
          <p:cNvSpPr txBox="1"/>
          <p:nvPr/>
        </p:nvSpPr>
        <p:spPr>
          <a:xfrm>
            <a:off x="0" y="498240"/>
            <a:ext cx="9144000" cy="852480"/>
          </a:xfrm>
          <a:prstGeom prst="rect">
            <a:avLst/>
          </a:prstGeom>
          <a:noFill/>
          <a:ln w="0">
            <a:noFill/>
          </a:ln>
        </p:spPr>
        <p:txBody>
          <a:bodyPr lIns="90000" tIns="45000" rIns="90000" bIns="45000" anchor="t" anchorCtr="1">
            <a:spAutoFit/>
          </a:bodyPr>
          <a:lstStyle/>
          <a:p>
            <a:pPr algn="ctr"/>
            <a:r>
              <a:rPr lang="fr-FR" sz="4400" b="0" u="none" strike="noStrike">
                <a:solidFill>
                  <a:srgbClr val="000000"/>
                </a:solidFill>
                <a:effectLst/>
                <a:uFillTx/>
                <a:latin typeface="Calibri"/>
              </a:rPr>
              <a:t>Étapes de la greffe en écusson</a:t>
            </a:r>
            <a:endParaRPr lang="fr-FR" sz="4400" b="0" u="none" strike="noStrike">
              <a:solidFill>
                <a:srgbClr val="000000"/>
              </a:solidFill>
              <a:effectLst/>
              <a:uFillTx/>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PlaceHolder 1"/>
          <p:cNvSpPr>
            <a:spLocks noGrp="1"/>
          </p:cNvSpPr>
          <p:nvPr>
            <p:ph type="title"/>
          </p:nvPr>
        </p:nvSpPr>
        <p:spPr>
          <a:xfrm>
            <a:off x="360000" y="274680"/>
            <a:ext cx="8640000" cy="1142640"/>
          </a:xfrm>
          <a:prstGeom prst="rect">
            <a:avLst/>
          </a:prstGeom>
          <a:noFill/>
          <a:ln w="0">
            <a:noFill/>
          </a:ln>
        </p:spPr>
        <p:txBody>
          <a:bodyPr lIns="91440" tIns="45720" rIns="91440" bIns="45720" anchor="ctr">
            <a:noAutofit/>
          </a:bodyPr>
          <a:lstStyle/>
          <a:p>
            <a:pPr indent="0" algn="ctr" defTabSz="457200">
              <a:lnSpc>
                <a:spcPct val="100000"/>
              </a:lnSpc>
              <a:spcBef>
                <a:spcPts val="1191"/>
              </a:spcBef>
              <a:spcAft>
                <a:spcPts val="992"/>
              </a:spcAft>
              <a:buNone/>
            </a:pPr>
            <a:r>
              <a:rPr lang="fr-FR" sz="4400" b="0" u="none" strike="noStrike">
                <a:solidFill>
                  <a:schemeClr val="dk1"/>
                </a:solidFill>
                <a:effectLst/>
                <a:uFillTx/>
                <a:latin typeface="Calibri"/>
              </a:rPr>
              <a:t>Chip budding (écusson en copeau)</a:t>
            </a:r>
            <a:endParaRPr lang="en-US" sz="4400" b="0" u="none" strike="noStrike">
              <a:solidFill>
                <a:schemeClr val="dk1"/>
              </a:solidFill>
              <a:effectLst/>
              <a:uFillTx/>
              <a:latin typeface="Calibri"/>
            </a:endParaRPr>
          </a:p>
        </p:txBody>
      </p:sp>
      <p:sp>
        <p:nvSpPr>
          <p:cNvPr id="146" name="PlaceHolder 2"/>
          <p:cNvSpPr>
            <a:spLocks noGrp="1"/>
          </p:cNvSpPr>
          <p:nvPr>
            <p:ph/>
          </p:nvPr>
        </p:nvSpPr>
        <p:spPr>
          <a:xfrm>
            <a:off x="457200" y="1600200"/>
            <a:ext cx="8229240" cy="4525560"/>
          </a:xfrm>
          <a:prstGeom prst="rect">
            <a:avLst/>
          </a:prstGeom>
          <a:noFill/>
          <a:ln w="0">
            <a:noFill/>
          </a:ln>
        </p:spPr>
        <p:txBody>
          <a:bodyPr lIns="91440" tIns="45720" rIns="91440" bIns="45720" anchor="t">
            <a:noAutofit/>
          </a:bodyPr>
          <a:lstStyle/>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Variante de la greffe à œil</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Utilise un bourgeon avec un copeau de bois</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Peut être réalisée hors pleine montée de sève</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Demande précision et bon coup de main</a:t>
            </a:r>
            <a:endParaRPr lang="en-US" sz="1800" b="0" u="none" strike="noStrike">
              <a:solidFill>
                <a:schemeClr val="dk1"/>
              </a:solidFill>
              <a:effectLst/>
              <a:uFillTx/>
              <a:latin typeface="Calibri"/>
            </a:endParaRPr>
          </a:p>
          <a:p>
            <a:pPr marL="343080" indent="0" defTabSz="457200">
              <a:lnSpc>
                <a:spcPct val="100000"/>
              </a:lnSpc>
              <a:spcBef>
                <a:spcPts val="1191"/>
              </a:spcBef>
              <a:spcAft>
                <a:spcPts val="992"/>
              </a:spcAft>
              <a:buNone/>
            </a:pPr>
            <a:r>
              <a:rPr lang="fr-FR" sz="1800" b="0" u="none" strike="noStrike">
                <a:solidFill>
                  <a:schemeClr val="dk1"/>
                </a:solidFill>
                <a:effectLst/>
                <a:uFillTx/>
                <a:latin typeface="Calibri"/>
              </a:rPr>
              <a:t>=&gt; Résumé :Technique souple et précise / Très utile quand l’écorce ne se décolle pas</a:t>
            </a:r>
            <a:endParaRPr lang="en-US" sz="1800" b="0" u="none" strike="noStrike">
              <a:solidFill>
                <a:schemeClr val="dk1"/>
              </a:solidFill>
              <a:effectLst/>
              <a:uFillTx/>
              <a:latin typeface="Calibri"/>
            </a:endParaRPr>
          </a:p>
          <a:p>
            <a:pPr marL="343080" indent="0" defTabSz="457200">
              <a:lnSpc>
                <a:spcPct val="100000"/>
              </a:lnSpc>
              <a:spcBef>
                <a:spcPts val="1191"/>
              </a:spcBef>
              <a:spcAft>
                <a:spcPts val="992"/>
              </a:spcAft>
              <a:buNone/>
            </a:pPr>
            <a:endParaRPr lang="en-US" sz="1800" b="0" u="none" strike="noStrike">
              <a:solidFill>
                <a:schemeClr val="dk1"/>
              </a:solidFill>
              <a:effectLst/>
              <a:uFillTx/>
              <a:latin typeface="Calibri"/>
            </a:endParaRPr>
          </a:p>
        </p:txBody>
      </p:sp>
      <p:pic>
        <p:nvPicPr>
          <p:cNvPr id="147" name="Image 146"/>
          <p:cNvPicPr/>
          <p:nvPr/>
        </p:nvPicPr>
        <p:blipFill>
          <a:blip r:embed="rId2"/>
          <a:stretch/>
        </p:blipFill>
        <p:spPr>
          <a:xfrm>
            <a:off x="1980000" y="4619880"/>
            <a:ext cx="5066640" cy="20401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ZoneTexte 147"/>
          <p:cNvSpPr txBox="1"/>
          <p:nvPr/>
        </p:nvSpPr>
        <p:spPr>
          <a:xfrm>
            <a:off x="39600" y="1787040"/>
            <a:ext cx="9104040" cy="4755960"/>
          </a:xfrm>
          <a:prstGeom prst="rect">
            <a:avLst/>
          </a:prstGeom>
          <a:noFill/>
          <a:ln w="0">
            <a:noFill/>
          </a:ln>
        </p:spPr>
        <p:txBody>
          <a:bodyPr lIns="90000" tIns="45000" rIns="90000" bIns="45000" anchor="t">
            <a:spAutoFit/>
          </a:bodyPr>
          <a:lstStyle/>
          <a:p>
            <a:r>
              <a:rPr lang="fr-FR" sz="1800" b="0" u="none" strike="noStrike" dirty="0">
                <a:solidFill>
                  <a:srgbClr val="000000"/>
                </a:solidFill>
                <a:effectLst/>
                <a:uFillTx/>
                <a:latin typeface="Calibri"/>
              </a:rPr>
              <a:t>1. Choix de la période : possible au printemps ou en fin d’été, même si l’écorce se décolle mal.</a:t>
            </a:r>
            <a:endParaRPr lang="fr-FR" sz="1800" b="0" u="none" strike="noStrike" dirty="0">
              <a:solidFill>
                <a:srgbClr val="000000"/>
              </a:solidFill>
              <a:effectLst/>
              <a:uFillTx/>
              <a:latin typeface="Arial"/>
            </a:endParaRPr>
          </a:p>
          <a:p>
            <a:endParaRPr lang="fr-FR" sz="1800" b="0" u="none" strike="noStrike" dirty="0">
              <a:solidFill>
                <a:srgbClr val="000000"/>
              </a:solidFill>
              <a:effectLst/>
              <a:uFillTx/>
              <a:latin typeface="Arial"/>
            </a:endParaRPr>
          </a:p>
          <a:p>
            <a:r>
              <a:rPr lang="fr-FR" sz="1800" b="0" u="none" strike="noStrike" dirty="0">
                <a:solidFill>
                  <a:srgbClr val="000000"/>
                </a:solidFill>
                <a:effectLst/>
                <a:uFillTx/>
                <a:latin typeface="Calibri"/>
              </a:rPr>
              <a:t>2. Préparation du porte-greffe : prélèvement d’un copeau de bois avec écorce.</a:t>
            </a:r>
            <a:endParaRPr lang="fr-FR" sz="1800" b="0" u="none" strike="noStrike" dirty="0">
              <a:solidFill>
                <a:srgbClr val="000000"/>
              </a:solidFill>
              <a:effectLst/>
              <a:uFillTx/>
              <a:latin typeface="Arial"/>
            </a:endParaRPr>
          </a:p>
          <a:p>
            <a:endParaRPr lang="fr-FR" sz="1800" b="0" u="none" strike="noStrike" dirty="0">
              <a:solidFill>
                <a:srgbClr val="000000"/>
              </a:solidFill>
              <a:effectLst/>
              <a:uFillTx/>
              <a:latin typeface="Arial"/>
            </a:endParaRPr>
          </a:p>
          <a:p>
            <a:r>
              <a:rPr lang="fr-FR" sz="1800" b="0" u="none" strike="noStrike" dirty="0">
                <a:solidFill>
                  <a:srgbClr val="000000"/>
                </a:solidFill>
                <a:effectLst/>
                <a:uFillTx/>
                <a:latin typeface="Calibri"/>
              </a:rPr>
              <a:t>3. Préparation du greffon : prélèvement d’un bourgeon identique au copeau retiré.</a:t>
            </a:r>
            <a:endParaRPr lang="fr-FR" sz="1800" b="0" u="none" strike="noStrike" dirty="0">
              <a:solidFill>
                <a:srgbClr val="000000"/>
              </a:solidFill>
              <a:effectLst/>
              <a:uFillTx/>
              <a:latin typeface="Arial"/>
            </a:endParaRPr>
          </a:p>
          <a:p>
            <a:endParaRPr lang="fr-FR" sz="1800" b="0" u="none" strike="noStrike" dirty="0">
              <a:solidFill>
                <a:srgbClr val="000000"/>
              </a:solidFill>
              <a:effectLst/>
              <a:uFillTx/>
              <a:latin typeface="Arial"/>
            </a:endParaRPr>
          </a:p>
          <a:p>
            <a:r>
              <a:rPr lang="fr-FR" sz="1800" b="0" u="none" strike="noStrike" dirty="0">
                <a:solidFill>
                  <a:srgbClr val="000000"/>
                </a:solidFill>
                <a:effectLst/>
                <a:uFillTx/>
                <a:latin typeface="Calibri"/>
              </a:rPr>
              <a:t>4. Assemblage : mise en place du bourgeon dans l’emplacement du copeau.</a:t>
            </a:r>
            <a:endParaRPr lang="fr-FR" sz="1800" b="0" u="none" strike="noStrike" dirty="0">
              <a:solidFill>
                <a:srgbClr val="000000"/>
              </a:solidFill>
              <a:effectLst/>
              <a:uFillTx/>
              <a:latin typeface="Arial"/>
            </a:endParaRPr>
          </a:p>
          <a:p>
            <a:endParaRPr lang="fr-FR" sz="1800" b="0" u="none" strike="noStrike" dirty="0">
              <a:solidFill>
                <a:srgbClr val="000000"/>
              </a:solidFill>
              <a:effectLst/>
              <a:uFillTx/>
              <a:latin typeface="Arial"/>
            </a:endParaRPr>
          </a:p>
          <a:p>
            <a:r>
              <a:rPr lang="fr-FR" sz="1800" b="0" u="none" strike="noStrike" dirty="0">
                <a:solidFill>
                  <a:srgbClr val="000000"/>
                </a:solidFill>
                <a:effectLst/>
                <a:uFillTx/>
                <a:latin typeface="Calibri"/>
              </a:rPr>
              <a:t>5. Alignement : contact précis des cambiums.</a:t>
            </a:r>
            <a:endParaRPr lang="fr-FR" sz="1800" b="0" u="none" strike="noStrike" dirty="0">
              <a:solidFill>
                <a:srgbClr val="000000"/>
              </a:solidFill>
              <a:effectLst/>
              <a:uFillTx/>
              <a:latin typeface="Arial"/>
            </a:endParaRPr>
          </a:p>
          <a:p>
            <a:endParaRPr lang="fr-FR" sz="1800" b="0" u="none" strike="noStrike" dirty="0">
              <a:solidFill>
                <a:srgbClr val="000000"/>
              </a:solidFill>
              <a:effectLst/>
              <a:uFillTx/>
              <a:latin typeface="Arial"/>
            </a:endParaRPr>
          </a:p>
          <a:p>
            <a:r>
              <a:rPr lang="fr-FR" sz="1800" b="0" u="none" strike="noStrike" dirty="0">
                <a:solidFill>
                  <a:srgbClr val="000000"/>
                </a:solidFill>
                <a:effectLst/>
                <a:uFillTx/>
                <a:latin typeface="Calibri"/>
              </a:rPr>
              <a:t>6. Ligature : ligature soignée et étanche.</a:t>
            </a:r>
            <a:endParaRPr lang="fr-FR" sz="1800" b="0" u="none" strike="noStrike" dirty="0">
              <a:solidFill>
                <a:srgbClr val="000000"/>
              </a:solidFill>
              <a:effectLst/>
              <a:uFillTx/>
              <a:latin typeface="Arial"/>
            </a:endParaRPr>
          </a:p>
          <a:p>
            <a:endParaRPr lang="fr-FR" sz="1800" b="0" u="none" strike="noStrike" dirty="0">
              <a:solidFill>
                <a:srgbClr val="000000"/>
              </a:solidFill>
              <a:effectLst/>
              <a:uFillTx/>
              <a:latin typeface="Arial"/>
            </a:endParaRPr>
          </a:p>
          <a:p>
            <a:r>
              <a:rPr lang="fr-FR" sz="1800" b="0" u="none" strike="noStrike" dirty="0">
                <a:solidFill>
                  <a:srgbClr val="000000"/>
                </a:solidFill>
                <a:effectLst/>
                <a:uFillTx/>
                <a:latin typeface="Calibri"/>
              </a:rPr>
              <a:t>7. Suivi : contrôle de la reprise et élimination des rejets.</a:t>
            </a:r>
            <a:endParaRPr lang="fr-FR" sz="1800" b="0" u="none" strike="noStrike" dirty="0">
              <a:solidFill>
                <a:srgbClr val="000000"/>
              </a:solidFill>
              <a:effectLst/>
              <a:uFillTx/>
              <a:latin typeface="Arial"/>
            </a:endParaRPr>
          </a:p>
          <a:p>
            <a:endParaRPr lang="fr-FR" sz="1800" b="0" u="none" strike="noStrike" dirty="0">
              <a:solidFill>
                <a:srgbClr val="000000"/>
              </a:solidFill>
              <a:effectLst/>
              <a:uFillTx/>
              <a:latin typeface="Arial"/>
            </a:endParaRPr>
          </a:p>
        </p:txBody>
      </p:sp>
      <p:sp>
        <p:nvSpPr>
          <p:cNvPr id="149" name="ZoneTexte 148"/>
          <p:cNvSpPr txBox="1"/>
          <p:nvPr/>
        </p:nvSpPr>
        <p:spPr>
          <a:xfrm>
            <a:off x="0" y="498240"/>
            <a:ext cx="9144000" cy="852480"/>
          </a:xfrm>
          <a:prstGeom prst="rect">
            <a:avLst/>
          </a:prstGeom>
          <a:noFill/>
          <a:ln w="0">
            <a:noFill/>
          </a:ln>
        </p:spPr>
        <p:txBody>
          <a:bodyPr lIns="90000" tIns="45000" rIns="90000" bIns="45000" anchor="t" anchorCtr="1">
            <a:spAutoFit/>
          </a:bodyPr>
          <a:lstStyle/>
          <a:p>
            <a:pPr algn="ctr">
              <a:lnSpc>
                <a:spcPct val="100000"/>
              </a:lnSpc>
            </a:pPr>
            <a:r>
              <a:rPr lang="fr-FR" sz="4400" b="0" u="none" strike="noStrike">
                <a:solidFill>
                  <a:srgbClr val="000000"/>
                </a:solidFill>
                <a:effectLst/>
                <a:uFillTx/>
                <a:latin typeface="Calibri"/>
              </a:rPr>
              <a:t>Étapes du chip-budding</a:t>
            </a:r>
            <a:endParaRPr lang="fr-FR" sz="4400" b="0" u="none" strike="noStrike">
              <a:solidFill>
                <a:srgbClr val="000000"/>
              </a:solidFill>
              <a:effectLst/>
              <a:uFillTx/>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457200" y="83880"/>
            <a:ext cx="8229240" cy="1524600"/>
          </a:xfrm>
          <a:prstGeom prst="rect">
            <a:avLst/>
          </a:prstGeom>
          <a:noFill/>
          <a:ln w="0">
            <a:noFill/>
          </a:ln>
        </p:spPr>
        <p:txBody>
          <a:bodyPr lIns="0" tIns="0" rIns="0" bIns="0" anchor="ctr" anchorCtr="1">
            <a:spAutoFit/>
          </a:bodyPr>
          <a:lstStyle/>
          <a:p>
            <a:pPr indent="0" algn="ctr">
              <a:lnSpc>
                <a:spcPct val="100000"/>
              </a:lnSpc>
              <a:spcBef>
                <a:spcPts val="1191"/>
              </a:spcBef>
              <a:spcAft>
                <a:spcPts val="992"/>
              </a:spcAft>
              <a:buNone/>
            </a:pPr>
            <a:r>
              <a:rPr lang="en-US" sz="4400" b="0" u="none" strike="noStrike">
                <a:solidFill>
                  <a:schemeClr val="dk1"/>
                </a:solidFill>
                <a:effectLst/>
                <a:uFillTx/>
                <a:latin typeface="Calibri"/>
              </a:rPr>
              <a:t>      Points clés communs à  toutes les greffes</a:t>
            </a:r>
          </a:p>
        </p:txBody>
      </p:sp>
      <p:sp>
        <p:nvSpPr>
          <p:cNvPr id="151" name="ZoneTexte 150"/>
          <p:cNvSpPr txBox="1"/>
          <p:nvPr/>
        </p:nvSpPr>
        <p:spPr>
          <a:xfrm>
            <a:off x="180000" y="2340000"/>
            <a:ext cx="8640000" cy="3874680"/>
          </a:xfrm>
          <a:prstGeom prst="rect">
            <a:avLst/>
          </a:prstGeom>
          <a:noFill/>
          <a:ln w="0">
            <a:noFill/>
          </a:ln>
        </p:spPr>
        <p:txBody>
          <a:bodyPr lIns="0" tIns="0" rIns="0" bIns="0" anchor="t">
            <a:spAutoFit/>
          </a:bodyPr>
          <a:lstStyle/>
          <a:p>
            <a:pPr marL="343080" indent="-343080" defTabSz="457200">
              <a:spcBef>
                <a:spcPts val="1191"/>
              </a:spcBef>
              <a:spcAft>
                <a:spcPts val="992"/>
              </a:spcAft>
              <a:buClr>
                <a:srgbClr val="000000"/>
              </a:buClr>
              <a:buFont typeface="Arial"/>
              <a:buChar char="•"/>
            </a:pPr>
            <a:r>
              <a:rPr lang="fr-FR" sz="1800" b="0" u="none" strike="noStrike">
                <a:solidFill>
                  <a:schemeClr val="dk1"/>
                </a:solidFill>
                <a:effectLst/>
                <a:uFillTx/>
                <a:latin typeface="Calibri"/>
                <a:ea typeface="Noto Sans CJK SC"/>
              </a:rPr>
              <a:t>Contact du cambium : indispensable, même partiel, c’est lui qui permet la soudure.</a:t>
            </a:r>
            <a:endParaRPr lang="fr-FR" sz="1800" b="0" u="none" strike="noStrike">
              <a:solidFill>
                <a:srgbClr val="000000"/>
              </a:solidFill>
              <a:effectLst/>
              <a:uFillTx/>
              <a:latin typeface="Arial"/>
            </a:endParaRPr>
          </a:p>
          <a:p>
            <a:pPr marL="343080" indent="-343080" defTabSz="457200">
              <a:spcBef>
                <a:spcPts val="1191"/>
              </a:spcBef>
              <a:spcAft>
                <a:spcPts val="992"/>
              </a:spcAft>
              <a:buClr>
                <a:srgbClr val="000000"/>
              </a:buClr>
              <a:buFont typeface="Arial"/>
              <a:buChar char="•"/>
            </a:pPr>
            <a:r>
              <a:rPr lang="fr-FR" sz="1800" b="0" u="none" strike="noStrike">
                <a:solidFill>
                  <a:schemeClr val="dk1"/>
                </a:solidFill>
                <a:effectLst/>
                <a:uFillTx/>
                <a:latin typeface="Calibri"/>
                <a:ea typeface="Noto Sans CJK SC"/>
              </a:rPr>
              <a:t>Étanchéité des coupes : ligature et mastic évitent le dessèchement et les infections.</a:t>
            </a:r>
            <a:endParaRPr lang="fr-FR" sz="1800" b="0" u="none" strike="noStrike">
              <a:solidFill>
                <a:srgbClr val="000000"/>
              </a:solidFill>
              <a:effectLst/>
              <a:uFillTx/>
              <a:latin typeface="Arial"/>
            </a:endParaRPr>
          </a:p>
          <a:p>
            <a:pPr marL="343080" indent="-343080" defTabSz="457200">
              <a:spcBef>
                <a:spcPts val="1191"/>
              </a:spcBef>
              <a:spcAft>
                <a:spcPts val="992"/>
              </a:spcAft>
              <a:buClr>
                <a:srgbClr val="000000"/>
              </a:buClr>
              <a:buFont typeface="Arial"/>
              <a:buChar char="•"/>
            </a:pPr>
            <a:r>
              <a:rPr lang="fr-FR" sz="1800" b="0" u="none" strike="noStrike">
                <a:solidFill>
                  <a:schemeClr val="dk1"/>
                </a:solidFill>
                <a:effectLst/>
                <a:uFillTx/>
                <a:latin typeface="Calibri"/>
                <a:ea typeface="Noto Sans CJK SC"/>
              </a:rPr>
              <a:t>Stabilité du greffon : rien ne doit bouger pendant la reprise.</a:t>
            </a:r>
            <a:endParaRPr lang="fr-FR" sz="1800" b="0" u="none" strike="noStrike">
              <a:solidFill>
                <a:srgbClr val="000000"/>
              </a:solidFill>
              <a:effectLst/>
              <a:uFillTx/>
              <a:latin typeface="Arial"/>
            </a:endParaRPr>
          </a:p>
          <a:p>
            <a:pPr marL="343080" indent="-343080" defTabSz="457200">
              <a:spcBef>
                <a:spcPts val="1191"/>
              </a:spcBef>
              <a:spcAft>
                <a:spcPts val="992"/>
              </a:spcAft>
              <a:buClr>
                <a:srgbClr val="000000"/>
              </a:buClr>
              <a:buFont typeface="Arial"/>
              <a:buChar char="•"/>
            </a:pPr>
            <a:r>
              <a:rPr lang="fr-FR" sz="1800" b="0" u="none" strike="noStrike">
                <a:solidFill>
                  <a:schemeClr val="dk1"/>
                </a:solidFill>
                <a:effectLst/>
                <a:uFillTx/>
                <a:latin typeface="Calibri"/>
                <a:ea typeface="Noto Sans CJK SC"/>
              </a:rPr>
              <a:t>Outils propres et bien aiguisés : coupes nettes = meilleure cicatrisation.</a:t>
            </a:r>
            <a:endParaRPr lang="fr-FR" sz="1800" b="0" u="none" strike="noStrike">
              <a:solidFill>
                <a:srgbClr val="000000"/>
              </a:solidFill>
              <a:effectLst/>
              <a:uFillTx/>
              <a:latin typeface="Arial"/>
            </a:endParaRPr>
          </a:p>
          <a:p>
            <a:pPr marL="343080" indent="-343080" defTabSz="457200">
              <a:spcBef>
                <a:spcPts val="1191"/>
              </a:spcBef>
              <a:spcAft>
                <a:spcPts val="992"/>
              </a:spcAft>
              <a:buClr>
                <a:srgbClr val="000000"/>
              </a:buClr>
              <a:buFont typeface="Arial"/>
              <a:buChar char="•"/>
            </a:pPr>
            <a:r>
              <a:rPr lang="fr-FR" sz="1800" b="0" u="none" strike="noStrike">
                <a:solidFill>
                  <a:schemeClr val="dk1"/>
                </a:solidFill>
                <a:effectLst/>
                <a:uFillTx/>
                <a:latin typeface="Calibri"/>
                <a:ea typeface="Noto Sans CJK SC"/>
              </a:rPr>
              <a:t>Observation et patience : la greffe ne réussit pas toujours du premier coup.</a:t>
            </a:r>
            <a:endParaRPr lang="fr-FR" sz="1800" b="0" u="none" strike="noStrike">
              <a:solidFill>
                <a:srgbClr val="000000"/>
              </a:solidFill>
              <a:effectLst/>
              <a:uFillTx/>
              <a:latin typeface="Arial"/>
            </a:endParaRPr>
          </a:p>
          <a:p>
            <a:pPr marL="343080" indent="-343080" defTabSz="457200">
              <a:spcBef>
                <a:spcPts val="1191"/>
              </a:spcBef>
              <a:spcAft>
                <a:spcPts val="992"/>
              </a:spcAft>
              <a:buClr>
                <a:srgbClr val="000000"/>
              </a:buClr>
              <a:buFont typeface="Arial"/>
              <a:buChar char="•"/>
            </a:pPr>
            <a:endParaRPr lang="fr-FR" sz="1800" b="0" u="none" strike="noStrike">
              <a:solidFill>
                <a:srgbClr val="000000"/>
              </a:solidFill>
              <a:effectLst/>
              <a:uFillTx/>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540000" y="11736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Surveillance et entretien</a:t>
            </a:r>
            <a:endParaRPr lang="en-US" sz="4400" b="0" u="none" strike="noStrike">
              <a:solidFill>
                <a:schemeClr val="dk1"/>
              </a:solidFill>
              <a:effectLst/>
              <a:uFillTx/>
              <a:latin typeface="Calibri"/>
            </a:endParaRPr>
          </a:p>
        </p:txBody>
      </p:sp>
      <p:sp>
        <p:nvSpPr>
          <p:cNvPr id="153" name="PlaceHolder 2"/>
          <p:cNvSpPr>
            <a:spLocks noGrp="1"/>
          </p:cNvSpPr>
          <p:nvPr>
            <p:ph/>
          </p:nvPr>
        </p:nvSpPr>
        <p:spPr>
          <a:xfrm>
            <a:off x="410760" y="1234440"/>
            <a:ext cx="6609240" cy="5425560"/>
          </a:xfrm>
          <a:prstGeom prst="rect">
            <a:avLst/>
          </a:prstGeom>
          <a:noFill/>
          <a:ln w="0">
            <a:noFill/>
          </a:ln>
        </p:spPr>
        <p:txBody>
          <a:bodyPr lIns="91440" tIns="45720" rIns="91440" bIns="45720" anchor="t">
            <a:noAutofit/>
          </a:bodyPr>
          <a:lstStyle/>
          <a:p>
            <a:pPr marL="343080" indent="-343080" defTabSz="457200">
              <a:lnSpc>
                <a:spcPct val="100000"/>
              </a:lnSpc>
              <a:spcBef>
                <a:spcPts val="1191"/>
              </a:spcBef>
              <a:spcAft>
                <a:spcPts val="992"/>
              </a:spcAft>
              <a:buClr>
                <a:srgbClr val="000000"/>
              </a:buClr>
              <a:buFont typeface="Arial"/>
              <a:buChar char="•"/>
            </a:pPr>
            <a:r>
              <a:rPr lang="fr-FR" sz="1600" b="0" u="none" strike="noStrike">
                <a:solidFill>
                  <a:schemeClr val="dk1"/>
                </a:solidFill>
                <a:effectLst/>
                <a:uFillTx/>
                <a:latin typeface="Calibri"/>
                <a:ea typeface="Noto Sans CJK SC"/>
              </a:rPr>
              <a:t>Signes de reprise : bourgeons qui gonflent, puis démarrage des jeunes pousses. Puis, s</a:t>
            </a:r>
            <a:r>
              <a:rPr lang="fr-FR" sz="1600" b="0" u="none" strike="noStrike">
                <a:solidFill>
                  <a:schemeClr val="dk1"/>
                </a:solidFill>
                <a:effectLst/>
                <a:uFillTx/>
                <a:latin typeface="Calibri"/>
              </a:rPr>
              <a:t>urveillance continue : observer l’évolution tout au long de la saison.</a:t>
            </a:r>
            <a:endParaRPr lang="en-US" sz="16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600" b="0" u="none" strike="noStrike">
                <a:solidFill>
                  <a:schemeClr val="dk1"/>
                </a:solidFill>
                <a:effectLst/>
                <a:uFillTx/>
                <a:latin typeface="Calibri"/>
              </a:rPr>
              <a:t>Attaches et mastic : vérifier qu’ils tiennent, sans étrangler la greffe.</a:t>
            </a:r>
            <a:endParaRPr lang="en-US" sz="16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600" b="0" u="none" strike="noStrike">
                <a:solidFill>
                  <a:schemeClr val="dk1"/>
                </a:solidFill>
                <a:effectLst/>
                <a:uFillTx/>
                <a:latin typeface="Calibri"/>
              </a:rPr>
              <a:t>Suppression des rejets : enlever régulièrement les pousses qui partent du porte-greffe pour éviter la concurrence avec le greffon.</a:t>
            </a:r>
            <a:endParaRPr lang="en-US" sz="16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600" b="0" u="none" strike="noStrike">
                <a:solidFill>
                  <a:schemeClr val="dk1"/>
                </a:solidFill>
                <a:effectLst/>
                <a:uFillTx/>
                <a:latin typeface="Calibri"/>
                <a:ea typeface="Noto Sans CJK SC"/>
              </a:rPr>
              <a:t>Tuteurage : utile si le greffon est fragile, exposé au vent ou si la pousse est rapide. G</a:t>
            </a:r>
            <a:r>
              <a:rPr lang="fr-FR" sz="1600" b="0" u="none" strike="noStrike">
                <a:solidFill>
                  <a:schemeClr val="dk1"/>
                </a:solidFill>
                <a:effectLst/>
                <a:uFillTx/>
                <a:latin typeface="Calibri"/>
              </a:rPr>
              <a:t>uider la croissance pour éviter les cassures et favoriser une bonne charpente.</a:t>
            </a:r>
            <a:endParaRPr lang="en-US" sz="16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600" b="0" u="none" strike="noStrike">
                <a:solidFill>
                  <a:schemeClr val="dk1"/>
                </a:solidFill>
                <a:effectLst/>
                <a:uFillTx/>
                <a:latin typeface="Calibri"/>
              </a:rPr>
              <a:t>Protection contre les animaux, si nécessaire (grillage)</a:t>
            </a:r>
            <a:endParaRPr lang="en-US" sz="16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600" b="0" u="none" strike="noStrike">
                <a:solidFill>
                  <a:schemeClr val="dk1"/>
                </a:solidFill>
                <a:effectLst/>
                <a:uFillTx/>
                <a:latin typeface="Calibri"/>
              </a:rPr>
              <a:t>Arrosage : sol frais mais jamais détrempé.</a:t>
            </a:r>
            <a:endParaRPr lang="en-US" sz="1600" b="0" u="none" strike="noStrike">
              <a:solidFill>
                <a:schemeClr val="dk1"/>
              </a:solidFill>
              <a:effectLst/>
              <a:uFillTx/>
              <a:latin typeface="Calibri"/>
            </a:endParaRPr>
          </a:p>
          <a:p>
            <a:pPr marL="343080" indent="0" defTabSz="457200">
              <a:lnSpc>
                <a:spcPct val="100000"/>
              </a:lnSpc>
              <a:spcBef>
                <a:spcPts val="1191"/>
              </a:spcBef>
              <a:spcAft>
                <a:spcPts val="992"/>
              </a:spcAft>
              <a:buNone/>
            </a:pPr>
            <a:r>
              <a:rPr lang="fr-FR" sz="1600" b="0" u="none" strike="noStrike">
                <a:solidFill>
                  <a:schemeClr val="dk1"/>
                </a:solidFill>
                <a:effectLst/>
                <a:uFillTx/>
                <a:latin typeface="Calibri"/>
              </a:rPr>
              <a:t>👉 Un entretien régulier permet au greffon de s’imposer durablement et d’assurer une bonne reprise.</a:t>
            </a:r>
            <a:endParaRPr lang="en-US" sz="1600" b="0" u="none" strike="noStrike">
              <a:solidFill>
                <a:schemeClr val="dk1"/>
              </a:solidFill>
              <a:effectLst/>
              <a:uFillTx/>
              <a:latin typeface="Calibri"/>
            </a:endParaRPr>
          </a:p>
        </p:txBody>
      </p:sp>
      <p:pic>
        <p:nvPicPr>
          <p:cNvPr id="154" name="Image 153"/>
          <p:cNvPicPr/>
          <p:nvPr/>
        </p:nvPicPr>
        <p:blipFill>
          <a:blip r:embed="rId2"/>
          <a:stretch/>
        </p:blipFill>
        <p:spPr>
          <a:xfrm flipH="1">
            <a:off x="6975720" y="1620000"/>
            <a:ext cx="2024280" cy="3600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Pourquoi ça rate ?</a:t>
            </a:r>
            <a:endParaRPr lang="en-US" sz="4400" b="0" u="none" strike="noStrike">
              <a:solidFill>
                <a:schemeClr val="dk1"/>
              </a:solidFill>
              <a:effectLst/>
              <a:uFillTx/>
              <a:latin typeface="Calibri"/>
            </a:endParaRPr>
          </a:p>
        </p:txBody>
      </p:sp>
      <p:sp>
        <p:nvSpPr>
          <p:cNvPr id="156" name="PlaceHolder 2"/>
          <p:cNvSpPr>
            <a:spLocks noGrp="1"/>
          </p:cNvSpPr>
          <p:nvPr>
            <p:ph/>
          </p:nvPr>
        </p:nvSpPr>
        <p:spPr>
          <a:xfrm>
            <a:off x="457200" y="1600200"/>
            <a:ext cx="8229240" cy="4525560"/>
          </a:xfrm>
          <a:prstGeom prst="rect">
            <a:avLst/>
          </a:prstGeom>
          <a:noFill/>
          <a:ln w="0">
            <a:noFill/>
          </a:ln>
        </p:spPr>
        <p:txBody>
          <a:bodyPr lIns="91440" tIns="45720" rIns="91440" bIns="45720" anchor="t">
            <a:noAutofit/>
          </a:bodyPr>
          <a:lstStyle/>
          <a:p>
            <a:pPr marL="343080" indent="0" defTabSz="457200">
              <a:lnSpc>
                <a:spcPct val="100000"/>
              </a:lnSpc>
              <a:spcBef>
                <a:spcPts val="1191"/>
              </a:spcBef>
              <a:spcAft>
                <a:spcPts val="992"/>
              </a:spcAft>
              <a:buNone/>
            </a:pPr>
            <a:endParaRPr lang="en-US" sz="13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300" b="0" u="none" strike="noStrike">
                <a:solidFill>
                  <a:schemeClr val="dk1"/>
                </a:solidFill>
                <a:effectLst/>
                <a:uFillTx/>
                <a:latin typeface="Calibri"/>
              </a:rPr>
              <a:t>Mauvais contact : Cambiums mal alignés.</a:t>
            </a:r>
            <a:endParaRPr lang="en-US" sz="13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300" b="0" u="none" strike="noStrike">
                <a:solidFill>
                  <a:schemeClr val="dk1"/>
                </a:solidFill>
                <a:effectLst/>
                <a:uFillTx/>
                <a:latin typeface="Calibri"/>
              </a:rPr>
              <a:t>Erreur technique : Polarité (sens de la sève) inversée.</a:t>
            </a:r>
            <a:endParaRPr lang="en-US" sz="13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300" b="0" u="none" strike="noStrike">
                <a:solidFill>
                  <a:schemeClr val="dk1"/>
                </a:solidFill>
                <a:effectLst/>
                <a:uFillTx/>
                <a:latin typeface="Calibri"/>
              </a:rPr>
              <a:t>Hygiène : Outils mal désinfectés ou peu tranchants.</a:t>
            </a:r>
            <a:endParaRPr lang="en-US" sz="13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300" b="0" u="none" strike="noStrike">
                <a:solidFill>
                  <a:schemeClr val="dk1"/>
                </a:solidFill>
                <a:effectLst/>
                <a:uFillTx/>
                <a:latin typeface="Calibri"/>
              </a:rPr>
              <a:t>Concurrence : Rejets du porte-greffe non supprimés.</a:t>
            </a:r>
            <a:endParaRPr lang="en-US" sz="1300" b="0" u="none" strike="noStrike">
              <a:solidFill>
                <a:schemeClr val="dk1"/>
              </a:solidFill>
              <a:effectLst/>
              <a:uFillTx/>
              <a:latin typeface="Calibri"/>
            </a:endParaRPr>
          </a:p>
          <a:p>
            <a:pPr marL="864000" lvl="1" indent="0" defTabSz="457200">
              <a:spcBef>
                <a:spcPts val="1134"/>
              </a:spcBef>
              <a:buNone/>
            </a:pPr>
            <a:endParaRPr lang="en-US" sz="13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300" b="0" u="none" strike="noStrike">
                <a:solidFill>
                  <a:schemeClr val="dk1"/>
                </a:solidFill>
                <a:effectLst/>
                <a:uFillTx/>
                <a:latin typeface="Calibri"/>
              </a:rPr>
              <a:t>On peut refaire !</a:t>
            </a:r>
            <a:endParaRPr lang="en-US" sz="13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300" b="0" u="none" strike="noStrike">
                <a:solidFill>
                  <a:schemeClr val="dk1"/>
                </a:solidFill>
                <a:effectLst/>
                <a:uFillTx/>
                <a:latin typeface="Calibri"/>
              </a:rPr>
              <a:t>La nature offre plusieurs chances de février à octobre.</a:t>
            </a:r>
            <a:endParaRPr lang="en-US" sz="13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300" b="0" u="none" strike="noStrike">
                <a:solidFill>
                  <a:schemeClr val="dk1"/>
                </a:solidFill>
                <a:effectLst/>
                <a:uFillTx/>
                <a:latin typeface="Calibri"/>
              </a:rPr>
              <a:t>Échec au printemps ? Retentez en été (œil dormant) ou l'année suivante.</a:t>
            </a:r>
            <a:endParaRPr lang="en-US" sz="1300" b="0" u="none" strike="noStrike">
              <a:solidFill>
                <a:schemeClr val="dk1"/>
              </a:solidFill>
              <a:effectLst/>
              <a:uFillTx/>
              <a:latin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Quand retirer les liens</a:t>
            </a:r>
            <a:endParaRPr lang="en-US" sz="4400" b="0" u="none" strike="noStrike">
              <a:solidFill>
                <a:schemeClr val="dk1"/>
              </a:solidFill>
              <a:effectLst/>
              <a:uFillTx/>
              <a:latin typeface="Calibri"/>
            </a:endParaRPr>
          </a:p>
        </p:txBody>
      </p:sp>
      <p:sp>
        <p:nvSpPr>
          <p:cNvPr id="158" name="PlaceHolder 2"/>
          <p:cNvSpPr>
            <a:spLocks noGrp="1"/>
          </p:cNvSpPr>
          <p:nvPr>
            <p:ph/>
          </p:nvPr>
        </p:nvSpPr>
        <p:spPr>
          <a:xfrm>
            <a:off x="457200" y="1600200"/>
            <a:ext cx="8229240" cy="4525560"/>
          </a:xfrm>
          <a:prstGeom prst="rect">
            <a:avLst/>
          </a:prstGeom>
          <a:noFill/>
          <a:ln w="0">
            <a:noFill/>
          </a:ln>
        </p:spPr>
        <p:txBody>
          <a:bodyPr lIns="91440" tIns="45720" rIns="91440" bIns="45720" anchor="t">
            <a:noAutofit/>
          </a:bodyPr>
          <a:lstStyle/>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Après la greffe : Vigilance, ni trop tôt, ni trop tard</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Quelques mois après : Vérifier la soudure et la reprise du greffon.</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Attention à l'étranglement !  Retirer les ligatures (raphia, ruban) dès que le greffon forcit.</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Empêche de bloquer la circulation de la sève.</a:t>
            </a:r>
            <a:endParaRPr lang="en-US" sz="1800" b="0" u="none" strike="noStrike">
              <a:solidFill>
                <a:schemeClr val="dk1"/>
              </a:solidFill>
              <a:effectLst/>
              <a:uFillTx/>
              <a:latin typeface="Calibri"/>
            </a:endParaRPr>
          </a:p>
          <a:p>
            <a:pPr marL="343080" indent="0" defTabSz="457200">
              <a:lnSpc>
                <a:spcPct val="100000"/>
              </a:lnSpc>
              <a:spcBef>
                <a:spcPts val="1191"/>
              </a:spcBef>
              <a:spcAft>
                <a:spcPts val="992"/>
              </a:spcAft>
              <a:buNone/>
            </a:pPr>
            <a:endParaRPr lang="en-US" sz="1800" b="0" u="none" strike="noStrike">
              <a:solidFill>
                <a:schemeClr val="dk1"/>
              </a:solidFill>
              <a:effectLst/>
              <a:uFillTx/>
              <a:latin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ZoneTexte 158"/>
          <p:cNvSpPr txBox="1"/>
          <p:nvPr/>
        </p:nvSpPr>
        <p:spPr>
          <a:xfrm>
            <a:off x="180000" y="1329480"/>
            <a:ext cx="8524080" cy="5528520"/>
          </a:xfrm>
          <a:prstGeom prst="rect">
            <a:avLst/>
          </a:prstGeom>
          <a:noFill/>
          <a:ln w="0">
            <a:noFill/>
          </a:ln>
        </p:spPr>
        <p:txBody>
          <a:bodyPr lIns="0" tIns="0" rIns="0" bIns="0" anchor="t">
            <a:spAutoFit/>
          </a:bodyPr>
          <a:lstStyle/>
          <a:p>
            <a:pPr marL="216000" indent="-216000">
              <a:spcBef>
                <a:spcPts val="1191"/>
              </a:spcBef>
              <a:spcAft>
                <a:spcPts val="992"/>
              </a:spcAft>
              <a:buClr>
                <a:srgbClr val="000000"/>
              </a:buClr>
              <a:buSzPct val="45000"/>
              <a:buFont typeface="Wingdings" charset="2"/>
              <a:buChar char=""/>
            </a:pPr>
            <a:r>
              <a:rPr lang="fr-FR" sz="1600" b="0" u="none" strike="noStrike">
                <a:solidFill>
                  <a:schemeClr val="dk1"/>
                </a:solidFill>
                <a:effectLst/>
                <a:uFillTx/>
                <a:latin typeface="Calibri"/>
                <a:ea typeface="Noto Sans CJK SC"/>
              </a:rPr>
              <a:t>Protection Sanitaire :  Xylella fastidiosa, Le Feu Bactérien , Le Chancre …</a:t>
            </a:r>
            <a:endParaRPr lang="fr-FR" sz="16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fr-FR" sz="1600" b="0" u="none" strike="noStrike">
                <a:solidFill>
                  <a:schemeClr val="dk1"/>
                </a:solidFill>
                <a:effectLst/>
                <a:uFillTx/>
                <a:latin typeface="Calibri"/>
                <a:ea typeface="Noto Sans CJK SC"/>
              </a:rPr>
              <a:t>Conseil : Toujours vérifier la provenance de vos porte-greffes et greffons.</a:t>
            </a:r>
            <a:endParaRPr lang="fr-FR" sz="1600" b="0" u="none" strike="noStrike">
              <a:solidFill>
                <a:srgbClr val="000000"/>
              </a:solidFill>
              <a:effectLst/>
              <a:uFillTx/>
              <a:latin typeface="Arial"/>
            </a:endParaRPr>
          </a:p>
          <a:p>
            <a:r>
              <a:rPr lang="fr-FR" sz="1600" b="0" u="none" strike="noStrike">
                <a:solidFill>
                  <a:schemeClr val="dk1"/>
                </a:solidFill>
                <a:effectLst/>
                <a:uFillTx/>
                <a:latin typeface="Calibri"/>
                <a:ea typeface="Noto Sans CJK SC"/>
              </a:rPr>
              <a:t>Propriété Intellectuelle : Le COV (Certificat d’Obtention Végétale)</a:t>
            </a:r>
            <a:endParaRPr lang="fr-FR" sz="1600" b="0" u="none" strike="noStrike">
              <a:solidFill>
                <a:srgbClr val="000000"/>
              </a:solidFill>
              <a:effectLst/>
              <a:uFillTx/>
              <a:latin typeface="Arial"/>
            </a:endParaRPr>
          </a:p>
          <a:p>
            <a:pPr marL="432000" lvl="1" indent="-216000">
              <a:spcBef>
                <a:spcPts val="1191"/>
              </a:spcBef>
              <a:spcAft>
                <a:spcPts val="992"/>
              </a:spcAft>
              <a:buClr>
                <a:srgbClr val="000000"/>
              </a:buClr>
              <a:buSzPct val="45000"/>
              <a:buFont typeface="Wingdings" charset="2"/>
              <a:buChar char=""/>
            </a:pPr>
            <a:r>
              <a:rPr lang="fr-FR" sz="1600" b="0" u="none" strike="noStrike">
                <a:solidFill>
                  <a:schemeClr val="dk1"/>
                </a:solidFill>
                <a:effectLst/>
                <a:uFillTx/>
                <a:latin typeface="Calibri"/>
                <a:ea typeface="Noto Sans CJK SC"/>
              </a:rPr>
              <a:t>- Un "brevet" sur une variété créée par un obtenteur.	</a:t>
            </a:r>
            <a:endParaRPr lang="fr-FR" sz="1600" b="0" u="none" strike="noStrike">
              <a:solidFill>
                <a:srgbClr val="000000"/>
              </a:solidFill>
              <a:effectLst/>
              <a:uFillTx/>
              <a:latin typeface="Arial"/>
            </a:endParaRPr>
          </a:p>
          <a:p>
            <a:pPr marL="432000" lvl="1" indent="-216000">
              <a:spcBef>
                <a:spcPts val="1191"/>
              </a:spcBef>
              <a:spcAft>
                <a:spcPts val="992"/>
              </a:spcAft>
              <a:buClr>
                <a:srgbClr val="000000"/>
              </a:buClr>
              <a:buSzPct val="45000"/>
              <a:buFont typeface="Wingdings" charset="2"/>
              <a:buChar char=""/>
            </a:pPr>
            <a:r>
              <a:rPr lang="fr-FR" sz="1600" b="0" u="none" strike="noStrike">
                <a:solidFill>
                  <a:schemeClr val="dk1"/>
                </a:solidFill>
                <a:effectLst/>
                <a:uFillTx/>
                <a:latin typeface="Calibri"/>
                <a:ea typeface="Noto Sans CJK SC"/>
              </a:rPr>
              <a:t>- Règle : La multiplication (greffage) des variétés sous COV est interdite sans autorisation, même pour un usage privé…..</a:t>
            </a:r>
            <a:endParaRPr lang="fr-FR" sz="1600" b="0" u="none" strike="noStrike">
              <a:solidFill>
                <a:srgbClr val="000000"/>
              </a:solidFill>
              <a:effectLst/>
              <a:uFillTx/>
              <a:latin typeface="Arial"/>
            </a:endParaRPr>
          </a:p>
          <a:p>
            <a:pPr marL="432000" lvl="1" indent="-216000">
              <a:spcBef>
                <a:spcPts val="1191"/>
              </a:spcBef>
              <a:spcAft>
                <a:spcPts val="992"/>
              </a:spcAft>
              <a:buClr>
                <a:srgbClr val="000000"/>
              </a:buClr>
              <a:buSzPct val="45000"/>
              <a:buFont typeface="Wingdings" charset="2"/>
              <a:buChar char=""/>
            </a:pPr>
            <a:r>
              <a:rPr lang="fr-FR" sz="1600" b="0" u="none" strike="noStrike">
                <a:solidFill>
                  <a:schemeClr val="dk1"/>
                </a:solidFill>
                <a:effectLst/>
                <a:uFillTx/>
                <a:latin typeface="Calibri"/>
                <a:ea typeface="Noto Sans CJK SC"/>
              </a:rPr>
              <a:t>- Durée : Généralement 25 à 30 ans.</a:t>
            </a:r>
            <a:endParaRPr lang="fr-FR" sz="16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fr-FR" sz="1600" b="0" u="none" strike="noStrike">
                <a:solidFill>
                  <a:schemeClr val="dk1"/>
                </a:solidFill>
                <a:effectLst/>
                <a:uFillTx/>
                <a:latin typeface="Calibri"/>
                <a:ea typeface="Noto Sans CJK SC"/>
              </a:rPr>
              <a:t>Le domaine public :</a:t>
            </a:r>
            <a:endParaRPr lang="fr-FR" sz="1600" b="0" u="none" strike="noStrike">
              <a:solidFill>
                <a:srgbClr val="000000"/>
              </a:solidFill>
              <a:effectLst/>
              <a:uFillTx/>
              <a:latin typeface="Arial"/>
            </a:endParaRPr>
          </a:p>
          <a:p>
            <a:pPr marL="432000" lvl="1" indent="-216000">
              <a:spcBef>
                <a:spcPts val="1191"/>
              </a:spcBef>
              <a:spcAft>
                <a:spcPts val="992"/>
              </a:spcAft>
              <a:buClr>
                <a:srgbClr val="000000"/>
              </a:buClr>
              <a:buSzPct val="45000"/>
              <a:buFont typeface="Wingdings" charset="2"/>
              <a:buChar char=""/>
            </a:pPr>
            <a:r>
              <a:rPr lang="fr-FR" sz="1600" b="0" u="none" strike="noStrike">
                <a:solidFill>
                  <a:schemeClr val="dk1"/>
                </a:solidFill>
                <a:effectLst/>
                <a:uFillTx/>
                <a:latin typeface="Calibri"/>
                <a:ea typeface="Noto Sans CJK SC"/>
              </a:rPr>
              <a:t>- Privilégiez les variétés anciennes et locales (libres de droits).</a:t>
            </a:r>
            <a:endParaRPr lang="fr-FR" sz="1600" b="0" u="none" strike="noStrike">
              <a:solidFill>
                <a:srgbClr val="000000"/>
              </a:solidFill>
              <a:effectLst/>
              <a:uFillTx/>
              <a:latin typeface="Arial"/>
            </a:endParaRPr>
          </a:p>
          <a:p>
            <a:pPr marL="432000" lvl="1" indent="-216000">
              <a:spcBef>
                <a:spcPts val="1191"/>
              </a:spcBef>
              <a:spcAft>
                <a:spcPts val="992"/>
              </a:spcAft>
              <a:buClr>
                <a:srgbClr val="000000"/>
              </a:buClr>
              <a:buSzPct val="45000"/>
              <a:buFont typeface="Wingdings" charset="2"/>
              <a:buChar char=""/>
            </a:pPr>
            <a:r>
              <a:rPr lang="fr-FR" sz="1600" b="0" u="none" strike="noStrike">
                <a:solidFill>
                  <a:schemeClr val="dk1"/>
                </a:solidFill>
                <a:effectLst/>
                <a:uFillTx/>
                <a:latin typeface="Calibri"/>
                <a:ea typeface="Noto Sans CJK SC"/>
              </a:rPr>
              <a:t>- Elles sont souvent mieux adaptées à votre terroir et participent à la biodiversité.</a:t>
            </a:r>
            <a:endParaRPr lang="fr-FR" sz="1600" b="0" u="none" strike="noStrike">
              <a:solidFill>
                <a:srgbClr val="000000"/>
              </a:solidFill>
              <a:effectLst/>
              <a:uFillTx/>
              <a:latin typeface="Arial"/>
            </a:endParaRPr>
          </a:p>
          <a:p>
            <a:endParaRPr lang="fr-FR" sz="1600" b="0" u="none" strike="noStrike">
              <a:solidFill>
                <a:srgbClr val="000000"/>
              </a:solidFill>
              <a:effectLst/>
              <a:uFillTx/>
              <a:latin typeface="Arial"/>
            </a:endParaRPr>
          </a:p>
        </p:txBody>
      </p:sp>
      <p:sp>
        <p:nvSpPr>
          <p:cNvPr id="160" name="ZoneTexte 159"/>
          <p:cNvSpPr txBox="1"/>
          <p:nvPr/>
        </p:nvSpPr>
        <p:spPr>
          <a:xfrm>
            <a:off x="360000" y="360000"/>
            <a:ext cx="8100000" cy="852480"/>
          </a:xfrm>
          <a:prstGeom prst="rect">
            <a:avLst/>
          </a:prstGeom>
          <a:noFill/>
          <a:ln w="0">
            <a:noFill/>
          </a:ln>
        </p:spPr>
        <p:txBody>
          <a:bodyPr lIns="90000" tIns="45000" rIns="90000" bIns="45000" anchor="t" anchorCtr="1">
            <a:spAutoFit/>
          </a:bodyPr>
          <a:lstStyle/>
          <a:p>
            <a:pPr algn="ctr">
              <a:spcBef>
                <a:spcPts val="1191"/>
              </a:spcBef>
              <a:spcAft>
                <a:spcPts val="992"/>
              </a:spcAft>
            </a:pPr>
            <a:r>
              <a:rPr lang="fr-FR" sz="4400" b="0" u="none" strike="noStrike">
                <a:solidFill>
                  <a:srgbClr val="000000"/>
                </a:solidFill>
                <a:effectLst/>
                <a:uFillTx/>
                <a:latin typeface="Calibri"/>
              </a:rPr>
              <a:t>Cadre Légal et Sanitaire</a:t>
            </a:r>
            <a:endParaRPr lang="fr-FR" sz="4400" b="0" u="none" strike="noStrike">
              <a:solidFill>
                <a:srgbClr val="000000"/>
              </a:solidFill>
              <a:effectLst/>
              <a:uFillTx/>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457200" y="22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Ressources</a:t>
            </a:r>
            <a:endParaRPr lang="en-US" sz="4400" b="0" u="none" strike="noStrike">
              <a:solidFill>
                <a:schemeClr val="dk1"/>
              </a:solidFill>
              <a:effectLst/>
              <a:uFillTx/>
              <a:latin typeface="Calibri"/>
            </a:endParaRPr>
          </a:p>
        </p:txBody>
      </p:sp>
      <p:sp>
        <p:nvSpPr>
          <p:cNvPr id="162" name="PlaceHolder 2"/>
          <p:cNvSpPr>
            <a:spLocks noGrp="1"/>
          </p:cNvSpPr>
          <p:nvPr>
            <p:ph/>
          </p:nvPr>
        </p:nvSpPr>
        <p:spPr>
          <a:xfrm>
            <a:off x="230760" y="540000"/>
            <a:ext cx="8229240" cy="5760000"/>
          </a:xfrm>
          <a:prstGeom prst="rect">
            <a:avLst/>
          </a:prstGeom>
          <a:noFill/>
          <a:ln w="0">
            <a:noFill/>
          </a:ln>
        </p:spPr>
        <p:txBody>
          <a:bodyPr lIns="91440" tIns="45720" rIns="91440" bIns="45720" anchor="t">
            <a:noAutofit/>
          </a:bodyPr>
          <a:lstStyle/>
          <a:p>
            <a:pPr marL="343080" indent="0" defTabSz="457200">
              <a:lnSpc>
                <a:spcPct val="100000"/>
              </a:lnSpc>
              <a:spcBef>
                <a:spcPts val="1191"/>
              </a:spcBef>
              <a:spcAft>
                <a:spcPts val="992"/>
              </a:spcAft>
              <a:buNone/>
            </a:pPr>
            <a:endParaRPr lang="en-US" sz="13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300" b="0" u="none" strike="noStrike">
                <a:solidFill>
                  <a:schemeClr val="dk1"/>
                </a:solidFill>
                <a:effectLst/>
                <a:uFillTx/>
                <a:latin typeface="Calibri"/>
              </a:rPr>
              <a:t>Livres de référence :</a:t>
            </a:r>
            <a:endParaRPr lang="en-US" sz="13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300" b="0" u="none" strike="noStrike">
                <a:solidFill>
                  <a:schemeClr val="dk1"/>
                </a:solidFill>
                <a:effectLst/>
                <a:uFillTx/>
                <a:latin typeface="Calibri"/>
              </a:rPr>
              <a:t>Le greffage et la plantation des arbres fruitiers – Evelyne Leterme</a:t>
            </a:r>
            <a:endParaRPr lang="en-US" sz="13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300" b="0" u="none" strike="noStrike">
                <a:solidFill>
                  <a:schemeClr val="dk1"/>
                </a:solidFill>
                <a:effectLst/>
                <a:uFillTx/>
                <a:latin typeface="Calibri"/>
              </a:rPr>
              <a:t>De la taille à la conduite des arbres fruitiers – E. Leterme &amp; J.M. Lespinasse</a:t>
            </a:r>
            <a:endParaRPr lang="en-US" sz="13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300" b="0" u="none" strike="noStrike">
                <a:solidFill>
                  <a:schemeClr val="dk1"/>
                </a:solidFill>
                <a:effectLst/>
                <a:uFillTx/>
                <a:latin typeface="Calibri"/>
              </a:rPr>
              <a:t>Multiplication - Taille &amp; Ressources variétales – Franck Nathié</a:t>
            </a:r>
            <a:endParaRPr lang="en-US" sz="13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300" b="0" u="none" strike="noStrike">
                <a:solidFill>
                  <a:schemeClr val="dk1"/>
                </a:solidFill>
                <a:effectLst/>
                <a:uFillTx/>
                <a:latin typeface="Calibri"/>
              </a:rPr>
              <a:t>Greffer tous les arbres – Gaston Guingois</a:t>
            </a:r>
            <a:endParaRPr lang="en-US" sz="13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300" b="0" u="none" strike="noStrike">
                <a:solidFill>
                  <a:schemeClr val="dk1"/>
                </a:solidFill>
                <a:effectLst/>
                <a:uFillTx/>
                <a:latin typeface="Calibri"/>
              </a:rPr>
              <a:t>L’Art de greffer (via Wikisource)</a:t>
            </a:r>
            <a:endParaRPr lang="en-US" sz="13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300" b="0" u="none" strike="noStrike">
                <a:solidFill>
                  <a:schemeClr val="dk1"/>
                </a:solidFill>
                <a:effectLst/>
                <a:uFillTx/>
                <a:latin typeface="Calibri"/>
              </a:rPr>
              <a:t>Faites pousser vos noyaux et pépins</a:t>
            </a:r>
            <a:endParaRPr lang="en-US" sz="13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300" b="0" u="none" strike="noStrike">
                <a:solidFill>
                  <a:schemeClr val="dk1"/>
                </a:solidFill>
                <a:effectLst/>
                <a:uFillTx/>
                <a:latin typeface="Calibri"/>
              </a:rPr>
              <a:t>Sites &amp; Forums :  </a:t>
            </a:r>
            <a:endParaRPr lang="en-US" sz="13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300" b="0" u="none" strike="noStrike">
                <a:solidFill>
                  <a:schemeClr val="dk1"/>
                </a:solidFill>
                <a:effectLst/>
                <a:uFillTx/>
                <a:latin typeface="Calibri"/>
              </a:rPr>
              <a:t>fruitiers.org (Bourses aux greffons et échanges) Le jardin des alvéoles </a:t>
            </a:r>
            <a:endParaRPr lang="en-US" sz="13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300" b="0" u="none" strike="noStrike">
                <a:solidFill>
                  <a:schemeClr val="dk1"/>
                </a:solidFill>
                <a:effectLst/>
                <a:uFillTx/>
                <a:latin typeface="Calibri"/>
              </a:rPr>
              <a:t>Chaînes YouTube :</a:t>
            </a:r>
            <a:endParaRPr lang="en-US" sz="13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300" b="0" u="none" strike="noStrike">
                <a:solidFill>
                  <a:schemeClr val="dk1"/>
                </a:solidFill>
                <a:effectLst/>
                <a:uFillTx/>
                <a:latin typeface="Calibri"/>
              </a:rPr>
              <a:t>  Atmosvert, Le Jardin d’Émerveille, Ti-Lipouz , La pépinière du fruitier, La clé des champs 65</a:t>
            </a:r>
            <a:endParaRPr lang="en-US" sz="13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300" b="0" u="none" strike="noStrike">
                <a:solidFill>
                  <a:schemeClr val="dk1"/>
                </a:solidFill>
                <a:effectLst/>
                <a:uFillTx/>
                <a:latin typeface="Calibri"/>
              </a:rPr>
              <a:t>Mon GitHub : </a:t>
            </a:r>
            <a:endParaRPr lang="en-US" sz="1300" b="0" u="none" strike="noStrike">
              <a:solidFill>
                <a:schemeClr val="dk1"/>
              </a:solidFill>
              <a:effectLst/>
              <a:uFillTx/>
              <a:latin typeface="Calibri"/>
            </a:endParaRPr>
          </a:p>
          <a:p>
            <a:pPr marL="864000" lvl="1" indent="-324000" defTabSz="457200">
              <a:spcBef>
                <a:spcPts val="1134"/>
              </a:spcBef>
              <a:buClr>
                <a:srgbClr val="000000"/>
              </a:buClr>
              <a:buSzPct val="75000"/>
              <a:buFont typeface="Symbol" charset="2"/>
              <a:buChar char=""/>
            </a:pPr>
            <a:r>
              <a:rPr lang="fr-FR" sz="1300" b="0" u="none" strike="noStrike">
                <a:solidFill>
                  <a:schemeClr val="dk1"/>
                </a:solidFill>
                <a:effectLst/>
                <a:uFillTx/>
                <a:latin typeface="Calibri"/>
              </a:rPr>
              <a:t>https://github.com/tranber28/greffe-arbres</a:t>
            </a:r>
            <a:endParaRPr lang="en-US" sz="1300" b="0" u="none" strike="noStrike">
              <a:solidFill>
                <a:schemeClr val="dk1"/>
              </a:solidFill>
              <a:effectLst/>
              <a:uFillTx/>
              <a:latin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Conclusion</a:t>
            </a:r>
            <a:endParaRPr lang="en-US" sz="4400" b="0" u="none" strike="noStrike">
              <a:solidFill>
                <a:schemeClr val="dk1"/>
              </a:solidFill>
              <a:effectLst/>
              <a:uFillTx/>
              <a:latin typeface="Calibri"/>
            </a:endParaRPr>
          </a:p>
        </p:txBody>
      </p:sp>
      <p:sp>
        <p:nvSpPr>
          <p:cNvPr id="164" name="PlaceHolder 2"/>
          <p:cNvSpPr>
            <a:spLocks noGrp="1"/>
          </p:cNvSpPr>
          <p:nvPr>
            <p:ph/>
          </p:nvPr>
        </p:nvSpPr>
        <p:spPr>
          <a:xfrm>
            <a:off x="360000" y="1594440"/>
            <a:ext cx="8229240" cy="4525560"/>
          </a:xfrm>
          <a:prstGeom prst="rect">
            <a:avLst/>
          </a:prstGeom>
          <a:noFill/>
          <a:ln w="0">
            <a:noFill/>
          </a:ln>
        </p:spPr>
        <p:txBody>
          <a:bodyPr lIns="91440" tIns="45720" rIns="91440" bIns="45720" anchor="t">
            <a:noAutofit/>
          </a:bodyPr>
          <a:lstStyle/>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Accessible à tous : Une technique qui s'apprend par la pratique et l'observation.</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Savoir-faire ancien : Un héritage précieux pour préserver la biodiversité fruitière.</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Utile et gratifiant : Produire ses propres fruits et sauvegarder des variétés locales.</a:t>
            </a:r>
            <a:endParaRPr lang="en-US" sz="1800" b="0" u="none" strike="noStrike">
              <a:solidFill>
                <a:schemeClr val="dk1"/>
              </a:solidFill>
              <a:effectLst/>
              <a:uFillTx/>
              <a:latin typeface="Calibri"/>
            </a:endParaRPr>
          </a:p>
          <a:p>
            <a:pPr marL="343080" indent="-343080" defTabSz="457200">
              <a:lnSpc>
                <a:spcPct val="100000"/>
              </a:lnSpc>
              <a:spcBef>
                <a:spcPts val="1191"/>
              </a:spcBef>
              <a:spcAft>
                <a:spcPts val="992"/>
              </a:spcAft>
              <a:buClr>
                <a:srgbClr val="000000"/>
              </a:buClr>
              <a:buFont typeface="Arial"/>
              <a:buChar char="•"/>
            </a:pPr>
            <a:r>
              <a:rPr lang="fr-FR" sz="1800" b="0" u="none" strike="noStrike">
                <a:solidFill>
                  <a:schemeClr val="dk1"/>
                </a:solidFill>
                <a:effectLst/>
                <a:uFillTx/>
                <a:latin typeface="Calibri"/>
              </a:rPr>
              <a:t>"Observer, tester, partager"</a:t>
            </a:r>
            <a:endParaRPr lang="en-US" sz="1800" b="0" u="none" strike="noStrike">
              <a:solidFill>
                <a:schemeClr val="dk1"/>
              </a:solidFill>
              <a:effectLst/>
              <a:uFillTx/>
              <a:latin typeface="Calibri"/>
            </a:endParaRPr>
          </a:p>
          <a:p>
            <a:pPr indent="0" defTabSz="457200">
              <a:lnSpc>
                <a:spcPct val="100000"/>
              </a:lnSpc>
              <a:spcBef>
                <a:spcPts val="1191"/>
              </a:spcBef>
              <a:spcAft>
                <a:spcPts val="992"/>
              </a:spcAft>
              <a:buNone/>
            </a:pPr>
            <a:endParaRPr lang="en-US" sz="1800" b="0" u="none" strike="noStrike">
              <a:solidFill>
                <a:schemeClr val="dk1"/>
              </a:solidFill>
              <a:effectLst/>
              <a:uFillTx/>
              <a:latin typeface="Calibri"/>
            </a:endParaRPr>
          </a:p>
          <a:p>
            <a:pPr marL="343080" indent="0" defTabSz="457200">
              <a:lnSpc>
                <a:spcPct val="100000"/>
              </a:lnSpc>
              <a:spcBef>
                <a:spcPts val="1191"/>
              </a:spcBef>
              <a:spcAft>
                <a:spcPts val="992"/>
              </a:spcAft>
              <a:buNone/>
            </a:pPr>
            <a:endParaRPr lang="en-US" sz="1800" b="0" u="none" strike="noStrike">
              <a:solidFill>
                <a:schemeClr val="dk1"/>
              </a:solidFill>
              <a:effectLst/>
              <a:uFillTx/>
              <a:latin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ZoneTexte 164"/>
          <p:cNvSpPr txBox="1"/>
          <p:nvPr/>
        </p:nvSpPr>
        <p:spPr>
          <a:xfrm>
            <a:off x="180000" y="1260000"/>
            <a:ext cx="8820000" cy="5868360"/>
          </a:xfrm>
          <a:prstGeom prst="rect">
            <a:avLst/>
          </a:prstGeom>
          <a:noFill/>
          <a:ln w="0">
            <a:noFill/>
          </a:ln>
        </p:spPr>
        <p:txBody>
          <a:bodyPr lIns="90000" tIns="45000" rIns="90000" bIns="45000" anchor="t">
            <a:spAutoFit/>
          </a:bodyPr>
          <a:lstStyle/>
          <a:p>
            <a:endParaRPr lang="fr-FR" sz="1300" b="0" u="none" strike="noStrike">
              <a:solidFill>
                <a:srgbClr val="000000"/>
              </a:solidFill>
              <a:effectLst/>
              <a:uFillTx/>
              <a:latin typeface="Arial"/>
            </a:endParaRPr>
          </a:p>
          <a:p>
            <a:r>
              <a:rPr lang="fr-FR" sz="1300" b="0" u="none" strike="noStrike">
                <a:solidFill>
                  <a:srgbClr val="000000"/>
                </a:solidFill>
                <a:effectLst/>
                <a:uFillTx/>
                <a:latin typeface="Calibri"/>
              </a:rPr>
              <a:t>Ressources techniques et scientifiques :</a:t>
            </a:r>
            <a:endParaRPr lang="fr-FR" sz="1300" b="0" u="none" strike="noStrike">
              <a:solidFill>
                <a:srgbClr val="000000"/>
              </a:solidFill>
              <a:effectLst/>
              <a:uFillTx/>
              <a:latin typeface="Arial"/>
            </a:endParaRPr>
          </a:p>
          <a:p>
            <a:r>
              <a:rPr lang="fr-FR" sz="1300" b="0" u="none" strike="noStrike">
                <a:solidFill>
                  <a:srgbClr val="000000"/>
                </a:solidFill>
                <a:effectLst/>
                <a:uFillTx/>
                <a:latin typeface="Calibri"/>
              </a:rPr>
              <a:t>	- Wiki Fruitiers (</a:t>
            </a:r>
            <a:r>
              <a:rPr lang="fr-FR" sz="1300" b="0" u="none" strike="noStrike">
                <a:solidFill>
                  <a:srgbClr val="000000"/>
                </a:solidFill>
                <a:effectLst/>
                <a:uFillTx/>
                <a:latin typeface="Calibri"/>
                <a:hlinkClick r:id="rId2"/>
              </a:rPr>
              <a:t>https://wiki.fruitiers.eu</a:t>
            </a:r>
            <a:r>
              <a:rPr lang="fr-FR" sz="1300" b="0" u="none" strike="noStrike">
                <a:solidFill>
                  <a:srgbClr val="000000"/>
                </a:solidFill>
                <a:effectLst/>
                <a:uFillTx/>
                <a:latin typeface="Calibri"/>
              </a:rPr>
              <a:t>) : Base de données collaborative essentielle.</a:t>
            </a:r>
            <a:endParaRPr lang="fr-FR" sz="1300" b="0" u="none" strike="noStrike">
              <a:solidFill>
                <a:srgbClr val="000000"/>
              </a:solidFill>
              <a:effectLst/>
              <a:uFillTx/>
              <a:latin typeface="Arial"/>
            </a:endParaRPr>
          </a:p>
          <a:p>
            <a:r>
              <a:rPr lang="fr-FR" sz="1300" b="0" u="none" strike="noStrike">
                <a:solidFill>
                  <a:srgbClr val="000000"/>
                </a:solidFill>
                <a:effectLst/>
                <a:uFillTx/>
                <a:latin typeface="Calibri"/>
              </a:rPr>
              <a:t>Contenus multimédias (Photos &amp; Illustrations) :</a:t>
            </a:r>
            <a:endParaRPr lang="fr-FR" sz="1300" b="0" u="none" strike="noStrike">
              <a:solidFill>
                <a:srgbClr val="000000"/>
              </a:solidFill>
              <a:effectLst/>
              <a:uFillTx/>
              <a:latin typeface="Arial"/>
            </a:endParaRPr>
          </a:p>
          <a:p>
            <a:r>
              <a:rPr lang="fr-FR" sz="1300" b="0" u="none" strike="noStrike">
                <a:solidFill>
                  <a:srgbClr val="000000"/>
                </a:solidFill>
                <a:effectLst/>
                <a:uFillTx/>
                <a:latin typeface="Calibri"/>
              </a:rPr>
              <a:t>	- Wikimedia Commons &amp; Pixabay : Pour les schémas botaniques et photos libres de droits.</a:t>
            </a:r>
            <a:endParaRPr lang="fr-FR" sz="1300" b="0" u="none" strike="noStrike">
              <a:solidFill>
                <a:srgbClr val="000000"/>
              </a:solidFill>
              <a:effectLst/>
              <a:uFillTx/>
              <a:latin typeface="Arial"/>
            </a:endParaRPr>
          </a:p>
          <a:p>
            <a:pPr>
              <a:lnSpc>
                <a:spcPct val="100000"/>
              </a:lnSpc>
              <a:spcBef>
                <a:spcPts val="1191"/>
              </a:spcBef>
              <a:spcAft>
                <a:spcPts val="992"/>
              </a:spcAft>
            </a:pPr>
            <a:r>
              <a:rPr lang="fr-FR" sz="1300" b="0" u="none" strike="noStrike">
                <a:solidFill>
                  <a:srgbClr val="000000"/>
                </a:solidFill>
                <a:effectLst/>
                <a:uFillTx/>
                <a:latin typeface="Calibri"/>
              </a:rPr>
              <a:t>	- Wiki Fruitiers</a:t>
            </a:r>
            <a:endParaRPr lang="fr-FR" sz="1300" b="0" u="none" strike="noStrike">
              <a:solidFill>
                <a:srgbClr val="000000"/>
              </a:solidFill>
              <a:effectLst/>
              <a:uFillTx/>
              <a:latin typeface="Arial"/>
            </a:endParaRPr>
          </a:p>
          <a:p>
            <a:r>
              <a:rPr lang="fr-FR" sz="1300" b="0" u="none" strike="noStrike">
                <a:solidFill>
                  <a:srgbClr val="000000"/>
                </a:solidFill>
                <a:effectLst/>
                <a:uFillTx/>
                <a:latin typeface="Calibri"/>
              </a:rPr>
              <a:t>	- </a:t>
            </a:r>
            <a:r>
              <a:rPr lang="fr-FR" sz="1300" b="0" u="none" strike="noStrike">
                <a:solidFill>
                  <a:srgbClr val="000000"/>
                </a:solidFill>
                <a:effectLst/>
                <a:uFillTx/>
                <a:latin typeface="Calibri"/>
                <a:hlinkClick r:id="rId3"/>
              </a:rPr>
              <a:t>https://www.facebook.com/TLB.HBK/</a:t>
            </a:r>
            <a:r>
              <a:rPr lang="fr-FR" sz="1300" b="0" u="none" strike="noStrike">
                <a:solidFill>
                  <a:srgbClr val="000000"/>
                </a:solidFill>
                <a:effectLst/>
                <a:uFillTx/>
                <a:latin typeface="Calibri"/>
              </a:rPr>
              <a:t> Pour une photo</a:t>
            </a:r>
            <a:endParaRPr lang="fr-FR" sz="1300" b="0" u="none" strike="noStrike">
              <a:solidFill>
                <a:srgbClr val="000000"/>
              </a:solidFill>
              <a:effectLst/>
              <a:uFillTx/>
              <a:latin typeface="Arial"/>
            </a:endParaRPr>
          </a:p>
          <a:p>
            <a:endParaRPr lang="fr-FR" sz="1600" b="0" u="none" strike="noStrike">
              <a:solidFill>
                <a:srgbClr val="000000"/>
              </a:solidFill>
              <a:effectLst/>
              <a:uFillTx/>
              <a:latin typeface="Arial"/>
            </a:endParaRPr>
          </a:p>
        </p:txBody>
      </p:sp>
      <p:sp>
        <p:nvSpPr>
          <p:cNvPr id="166" name="ZoneTexte 165"/>
          <p:cNvSpPr txBox="1"/>
          <p:nvPr/>
        </p:nvSpPr>
        <p:spPr>
          <a:xfrm>
            <a:off x="0" y="278640"/>
            <a:ext cx="9180000" cy="981360"/>
          </a:xfrm>
          <a:prstGeom prst="rect">
            <a:avLst/>
          </a:prstGeom>
          <a:noFill/>
          <a:ln w="0">
            <a:noFill/>
          </a:ln>
        </p:spPr>
        <p:txBody>
          <a:bodyPr lIns="90000" tIns="45000" rIns="90000" bIns="45000" anchor="t" anchorCtr="1">
            <a:spAutoFit/>
          </a:bodyPr>
          <a:lstStyle/>
          <a:p>
            <a:pPr algn="ctr"/>
            <a:r>
              <a:rPr lang="fr-FR" sz="4400" b="0" u="none" strike="noStrike">
                <a:solidFill>
                  <a:srgbClr val="000000"/>
                </a:solidFill>
                <a:effectLst/>
                <a:uFillTx/>
                <a:latin typeface="Calibri"/>
              </a:rPr>
              <a:t>Crédits &amp; Remerciements</a:t>
            </a:r>
            <a:endParaRPr lang="fr-FR" sz="4400" b="0" u="none" strike="noStrike">
              <a:solidFill>
                <a:srgbClr val="000000"/>
              </a:solidFill>
              <a:effectLst/>
              <a:uFillTx/>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540000" y="-180000"/>
            <a:ext cx="7772040" cy="1469520"/>
          </a:xfrm>
          <a:prstGeom prst="rect">
            <a:avLst/>
          </a:prstGeom>
          <a:noFill/>
          <a:ln w="0">
            <a:noFill/>
          </a:ln>
        </p:spPr>
        <p:txBody>
          <a:bodyPr lIns="91440" tIns="45720" rIns="91440" bIns="45720" anchor="ctr">
            <a:noAutofit/>
          </a:bodyPr>
          <a:lstStyle/>
          <a:p>
            <a:pPr indent="0" algn="ctr" defTabSz="457200">
              <a:lnSpc>
                <a:spcPct val="100000"/>
              </a:lnSpc>
              <a:buNone/>
            </a:pPr>
            <a:r>
              <a:rPr lang="fr-FR" sz="4400" b="0" u="none" strike="noStrike">
                <a:solidFill>
                  <a:schemeClr val="dk1"/>
                </a:solidFill>
                <a:effectLst/>
                <a:uFillTx/>
                <a:latin typeface="Calibri"/>
              </a:rPr>
              <a:t>Questions / échanges</a:t>
            </a:r>
            <a:endParaRPr lang="en-US" sz="4400" b="0" u="none" strike="noStrike">
              <a:solidFill>
                <a:schemeClr val="dk1"/>
              </a:solidFill>
              <a:effectLst/>
              <a:uFillTx/>
              <a:latin typeface="Calibri"/>
            </a:endParaRPr>
          </a:p>
        </p:txBody>
      </p:sp>
      <p:sp>
        <p:nvSpPr>
          <p:cNvPr id="168" name="PlaceHolder 2"/>
          <p:cNvSpPr>
            <a:spLocks noGrp="1"/>
          </p:cNvSpPr>
          <p:nvPr>
            <p:ph type="subTitle"/>
          </p:nvPr>
        </p:nvSpPr>
        <p:spPr>
          <a:xfrm>
            <a:off x="1371600" y="3886200"/>
            <a:ext cx="6400440" cy="1752120"/>
          </a:xfrm>
          <a:prstGeom prst="rect">
            <a:avLst/>
          </a:prstGeom>
          <a:noFill/>
          <a:ln w="0">
            <a:noFill/>
          </a:ln>
        </p:spPr>
        <p:txBody>
          <a:bodyPr lIns="91440" tIns="45720" rIns="91440" bIns="45720" anchor="t">
            <a:noAutofit/>
          </a:bodyPr>
          <a:lstStyle/>
          <a:p>
            <a:pPr indent="0" algn="ctr">
              <a:buNone/>
            </a:pPr>
            <a:endParaRPr lang="fr-FR" sz="3200" b="0" u="none" strike="noStrike">
              <a:solidFill>
                <a:schemeClr val="dk1">
                  <a:tint val="75000"/>
                </a:schemeClr>
              </a:solidFill>
              <a:effectLst/>
              <a:uFillTx/>
              <a:latin typeface="Calibri"/>
            </a:endParaRPr>
          </a:p>
        </p:txBody>
      </p:sp>
      <p:pic>
        <p:nvPicPr>
          <p:cNvPr id="169" name="Image 168"/>
          <p:cNvPicPr/>
          <p:nvPr/>
        </p:nvPicPr>
        <p:blipFill>
          <a:blip r:embed="rId2"/>
          <a:stretch/>
        </p:blipFill>
        <p:spPr>
          <a:xfrm>
            <a:off x="900000" y="900000"/>
            <a:ext cx="7543080" cy="54104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7.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8.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9.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10.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1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281</TotalTime>
  <Words>3572</Words>
  <Application>Microsoft Office PowerPoint</Application>
  <PresentationFormat>Affichage à l'écran (4:3)</PresentationFormat>
  <Paragraphs>370</Paragraphs>
  <Slides>43</Slides>
  <Notes>0</Notes>
  <HiddenSlides>0</HiddenSlides>
  <MMClips>0</MMClips>
  <ScaleCrop>false</ScaleCrop>
  <HeadingPairs>
    <vt:vector size="6" baseType="variant">
      <vt:variant>
        <vt:lpstr>Polices utilisées</vt:lpstr>
      </vt:variant>
      <vt:variant>
        <vt:i4>5</vt:i4>
      </vt:variant>
      <vt:variant>
        <vt:lpstr>Thème</vt:lpstr>
      </vt:variant>
      <vt:variant>
        <vt:i4>11</vt:i4>
      </vt:variant>
      <vt:variant>
        <vt:lpstr>Titres des diapositives</vt:lpstr>
      </vt:variant>
      <vt:variant>
        <vt:i4>43</vt:i4>
      </vt:variant>
    </vt:vector>
  </HeadingPairs>
  <TitlesOfParts>
    <vt:vector size="59" baseType="lpstr">
      <vt:lpstr>Arial</vt:lpstr>
      <vt:lpstr>Calibri</vt:lpstr>
      <vt:lpstr>Symbol</vt:lpstr>
      <vt:lpstr>Times New Roman</vt:lpstr>
      <vt:lpstr>Wingdings</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La greffe des arbres fruitiers</vt:lpstr>
      <vt:lpstr>Pourquoi cette présentation</vt:lpstr>
      <vt:lpstr>C’est quoi greffer ?</vt:lpstr>
      <vt:lpstr>À qui s’adresse la greffe</vt:lpstr>
      <vt:lpstr>Avantages de la greffe</vt:lpstr>
      <vt:lpstr>Inconvénients de la greffe et inconvénients de semer (franc)</vt:lpstr>
      <vt:lpstr>Cas concrets</vt:lpstr>
      <vt:lpstr>Exemples d’arbres concernés</vt:lpstr>
      <vt:lpstr>Comment un arbre fonctionne</vt:lpstr>
      <vt:lpstr>Le cambium</vt:lpstr>
      <vt:lpstr>Porte-greffe</vt:lpstr>
      <vt:lpstr>Greffon</vt:lpstr>
      <vt:lpstr>Compatibilité</vt:lpstr>
      <vt:lpstr>Quand greffer ?</vt:lpstr>
      <vt:lpstr>Calendrier simplifié</vt:lpstr>
      <vt:lpstr>Selon les arbres</vt:lpstr>
      <vt:lpstr>Présentation PowerPoint</vt:lpstr>
      <vt:lpstr>Signes naturels</vt:lpstr>
      <vt:lpstr>Outils indispensables</vt:lpstr>
      <vt:lpstr>Quand prélever les greffons</vt:lpstr>
      <vt:lpstr>Comment choisir les greffons</vt:lpstr>
      <vt:lpstr>Conservation</vt:lpstr>
      <vt:lpstr>Erreurs fréquentes</vt:lpstr>
      <vt:lpstr>Panorama des greffes</vt:lpstr>
      <vt:lpstr>Greffe en fente</vt:lpstr>
      <vt:lpstr> greffe en fente</vt:lpstr>
      <vt:lpstr>Greffe anglaise compliquée</vt:lpstr>
      <vt:lpstr>Étapes greffe anglaise compliquée </vt:lpstr>
      <vt:lpstr>Greffe en couronne</vt:lpstr>
      <vt:lpstr>Présentation PowerPoint</vt:lpstr>
      <vt:lpstr>Greffe en écusson</vt:lpstr>
      <vt:lpstr>Présentation PowerPoint</vt:lpstr>
      <vt:lpstr>Chip budding (écusson en copeau)</vt:lpstr>
      <vt:lpstr>Présentation PowerPoint</vt:lpstr>
      <vt:lpstr>      Points clés communs à  toutes les greffes</vt:lpstr>
      <vt:lpstr>Surveillance et entretien</vt:lpstr>
      <vt:lpstr>Pourquoi ça rate ?</vt:lpstr>
      <vt:lpstr>Quand retirer les liens</vt:lpstr>
      <vt:lpstr>Présentation PowerPoint</vt:lpstr>
      <vt:lpstr>Ressources</vt:lpstr>
      <vt:lpstr>Conclusion</vt:lpstr>
      <vt:lpstr>Présentation PowerPoint</vt:lpstr>
      <vt:lpstr>Questions / échanges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generated using python-pptx</dc:description>
  <cp:lastModifiedBy>bertrand Tranber</cp:lastModifiedBy>
  <cp:revision>54</cp:revision>
  <dcterms:created xsi:type="dcterms:W3CDTF">2013-01-27T09:14:16Z</dcterms:created>
  <dcterms:modified xsi:type="dcterms:W3CDTF">2026-01-23T15:54:13Z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